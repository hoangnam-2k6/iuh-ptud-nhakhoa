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1.svg" ContentType="image/svg+xml"/>
  <Override PartName="/ppt/media/image13.svg" ContentType="image/svg+xml"/>
  <Override PartName="/ppt/media/image15.svg" ContentType="image/svg+xml"/>
  <Override PartName="/ppt/media/image19.svg" ContentType="image/svg+xml"/>
  <Override PartName="/ppt/media/image21.svg" ContentType="image/svg+xml"/>
  <Override PartName="/ppt/media/image24.svg" ContentType="image/svg+xml"/>
  <Override PartName="/ppt/media/image26.svg" ContentType="image/svg+xml"/>
  <Override PartName="/ppt/media/image2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80" r:id="rId4"/>
    <p:sldId id="258" r:id="rId5"/>
    <p:sldId id="259" r:id="rId6"/>
    <p:sldId id="260" r:id="rId7"/>
    <p:sldId id="281" r:id="rId8"/>
    <p:sldId id="282" r:id="rId9"/>
    <p:sldId id="283" r:id="rId10"/>
    <p:sldId id="262" r:id="rId11"/>
    <p:sldId id="263" r:id="rId12"/>
    <p:sldId id="264" r:id="rId13"/>
    <p:sldId id="265" r:id="rId14"/>
    <p:sldId id="266" r:id="rId15"/>
    <p:sldId id="284" r:id="rId16"/>
    <p:sldId id="268" r:id="rId17"/>
    <p:sldId id="269" r:id="rId18"/>
    <p:sldId id="270" r:id="rId19"/>
    <p:sldId id="275" r:id="rId20"/>
  </p:sldIdLst>
  <p:sldSz cx="18288000" cy="10287000"/>
  <p:notesSz cx="6858000" cy="9144000"/>
  <p:embeddedFontLst>
    <p:embeddedFont>
      <p:font typeface="Be Vietnam Ultra-Bold" panose="00000900000000000000"/>
      <p:bold r:id="rId24"/>
    </p:embeddedFont>
    <p:embeddedFont>
      <p:font typeface="Noto Sans" panose="020B0502040504020204"/>
      <p:regular r:id="rId25"/>
    </p:embeddedFont>
    <p:embeddedFont>
      <p:font typeface="Noto Sans Bold" panose="020B0802040504020204"/>
      <p:bold r:id="rId26"/>
    </p:embeddedFont>
    <p:embeddedFont>
      <p:font typeface="IBM Plex Mono" panose="020B0509050203000203"/>
      <p:regular r:id="rId27"/>
    </p:embeddedFont>
    <p:embeddedFont>
      <p:font typeface="Calibri" panose="020F050202020403020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8" userDrawn="1">
          <p15:clr>
            <a:srgbClr val="A4A3A4"/>
          </p15:clr>
        </p15:guide>
        <p15:guide id="2" pos="29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1838"/>
        <p:guide pos="298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sv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png"/><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21.svg"/><Relationship Id="rId4" Type="http://schemas.openxmlformats.org/officeDocument/2006/relationships/image" Target="../media/image20.png"/><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9.png"/><Relationship Id="rId7" Type="http://schemas.openxmlformats.org/officeDocument/2006/relationships/image" Target="../media/image28.svg"/><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27" name="Picture 26" descr="dental_bg.png"/>
          <p:cNvPicPr>
            <a:picLocks noChangeAspect="1"/>
          </p:cNvPicPr>
          <p:nvPr/>
        </p:nvPicPr>
        <p:blipFill>
          <a:blip r:embed="rId1"/>
          <a:stretch>
            <a:fillRect/>
          </a:stretch>
        </p:blipFill>
        <p:spPr>
          <a:xfrm>
            <a:off x="0" y="-190500"/>
            <a:ext cx="18288000" cy="10438765"/>
          </a:xfrm>
          <a:prstGeom prst="rect">
            <a:avLst/>
          </a:prstGeom>
        </p:spPr>
      </p:pic>
      <p:sp>
        <p:nvSpPr>
          <p:cNvPr id="26" name="Oval 25"/>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3"/>
          <p:cNvGrpSpPr/>
          <p:nvPr/>
        </p:nvGrpSpPr>
        <p:grpSpPr>
          <a:xfrm rot="0">
            <a:off x="10668000" y="-222250"/>
            <a:ext cx="857250" cy="10543540"/>
            <a:chOff x="0" y="0"/>
            <a:chExt cx="1143000" cy="13716000"/>
          </a:xfrm>
        </p:grpSpPr>
        <p:sp>
          <p:nvSpPr>
            <p:cNvPr id="4" name="Freeform 4"/>
            <p:cNvSpPr/>
            <p:nvPr/>
          </p:nvSpPr>
          <p:spPr>
            <a:xfrm>
              <a:off x="0" y="0"/>
              <a:ext cx="1143000" cy="13716000"/>
            </a:xfrm>
            <a:custGeom>
              <a:avLst/>
              <a:gdLst/>
              <a:ahLst/>
              <a:cxnLst/>
              <a:rect l="l" t="t" r="r" b="b"/>
              <a:pathLst>
                <a:path w="1143000" h="13716000">
                  <a:moveTo>
                    <a:pt x="0" y="0"/>
                  </a:moveTo>
                  <a:lnTo>
                    <a:pt x="1143000" y="0"/>
                  </a:lnTo>
                  <a:lnTo>
                    <a:pt x="1143000" y="13716000"/>
                  </a:lnTo>
                  <a:lnTo>
                    <a:pt x="0" y="13716000"/>
                  </a:lnTo>
                  <a:close/>
                </a:path>
              </a:pathLst>
            </a:custGeom>
            <a:solidFill>
              <a:srgbClr val="A61E2D"/>
            </a:solidFill>
            <a:ln cap="sq">
              <a:noFill/>
              <a:prstDash val="solid"/>
              <a:miter/>
            </a:ln>
          </p:spPr>
        </p:sp>
        <p:sp>
          <p:nvSpPr>
            <p:cNvPr id="5" name="TextBox 5"/>
            <p:cNvSpPr txBox="1"/>
            <p:nvPr/>
          </p:nvSpPr>
          <p:spPr>
            <a:xfrm>
              <a:off x="0" y="-38100"/>
              <a:ext cx="1143000" cy="13754100"/>
            </a:xfrm>
            <a:prstGeom prst="rect">
              <a:avLst/>
            </a:prstGeom>
          </p:spPr>
          <p:txBody>
            <a:bodyPr lIns="50800" tIns="50800" rIns="50800" bIns="50800" rtlCol="0" anchor="ctr"/>
            <a:lstStyle/>
            <a:p>
              <a:pPr algn="l">
                <a:lnSpc>
                  <a:spcPts val="1680"/>
                </a:lnSpc>
              </a:pPr>
            </a:p>
          </p:txBody>
        </p:sp>
      </p:grpSp>
      <p:sp>
        <p:nvSpPr>
          <p:cNvPr id="7" name="TextBox 7"/>
          <p:cNvSpPr txBox="1"/>
          <p:nvPr/>
        </p:nvSpPr>
        <p:spPr>
          <a:xfrm>
            <a:off x="609600" y="2186940"/>
            <a:ext cx="9525000" cy="1843659"/>
          </a:xfrm>
          <a:prstGeom prst="rect">
            <a:avLst/>
          </a:prstGeom>
        </p:spPr>
        <p:txBody>
          <a:bodyPr lIns="0" tIns="0" rIns="0" bIns="0" rtlCol="0" anchor="t">
            <a:spAutoFit/>
          </a:bodyPr>
          <a:lstStyle/>
          <a:p>
            <a:pPr algn="l">
              <a:lnSpc>
                <a:spcPts val="7130"/>
              </a:lnSpc>
            </a:pPr>
            <a:r>
              <a:rPr lang="en-US" sz="660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rPr>
              <a:t>Hệ thống quản lý</a:t>
            </a:r>
            <a:endParaRPr lang="en-US" sz="660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endParaRPr>
          </a:p>
          <a:p>
            <a:pPr algn="l">
              <a:lnSpc>
                <a:spcPts val="7130"/>
              </a:lnSpc>
            </a:pPr>
            <a:r>
              <a:rPr lang="en-US" sz="660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rPr>
              <a:t>phòng khám nha khoa</a:t>
            </a:r>
            <a:endParaRPr lang="en-US" sz="660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8" name="TextBox 8"/>
          <p:cNvSpPr txBox="1"/>
          <p:nvPr/>
        </p:nvSpPr>
        <p:spPr>
          <a:xfrm>
            <a:off x="762000" y="4533900"/>
            <a:ext cx="7620000" cy="805180"/>
          </a:xfrm>
          <a:prstGeom prst="rect">
            <a:avLst/>
          </a:prstGeom>
        </p:spPr>
        <p:txBody>
          <a:bodyPr wrap="square" lIns="0" tIns="0" rIns="0" bIns="0" rtlCol="0" anchor="t">
            <a:spAutoFit/>
          </a:bodyPr>
          <a:lstStyle/>
          <a:p>
            <a:pPr algn="l">
              <a:lnSpc>
                <a:spcPts val="3140"/>
              </a:lnSpc>
            </a:pPr>
            <a:r>
              <a:rPr lang="en-US" sz="2325">
                <a:solidFill>
                  <a:srgbClr val="111111"/>
                </a:solidFill>
                <a:latin typeface="Times New Roman" panose="02020603050405020304" charset="0"/>
                <a:ea typeface="Noto Sans" panose="020B0502040504020204"/>
                <a:cs typeface="Times New Roman" panose="02020603050405020304" charset="0"/>
                <a:sym typeface="Noto Sans" panose="020B0502040504020204"/>
              </a:rPr>
              <a:t>Môn: Phát triển ứng dụng</a:t>
            </a:r>
            <a:endParaRPr lang="en-US" sz="2325">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l">
              <a:lnSpc>
                <a:spcPts val="3140"/>
              </a:lnSpc>
            </a:pPr>
            <a:r>
              <a:rPr lang="en-US" sz="2325">
                <a:solidFill>
                  <a:srgbClr val="111111"/>
                </a:solidFill>
                <a:latin typeface="Times New Roman" panose="02020603050405020304" charset="0"/>
                <a:ea typeface="Noto Sans" panose="020B0502040504020204"/>
                <a:cs typeface="Times New Roman" panose="02020603050405020304" charset="0"/>
                <a:sym typeface="Noto Sans" panose="020B0502040504020204"/>
              </a:rPr>
              <a:t>Giảng viên: Trần Thị Anh Thi</a:t>
            </a:r>
            <a:endParaRPr lang="en-US" sz="2325">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p:txBody>
      </p:sp>
      <p:sp>
        <p:nvSpPr>
          <p:cNvPr id="9" name="TextBox 9"/>
          <p:cNvSpPr txBox="1"/>
          <p:nvPr/>
        </p:nvSpPr>
        <p:spPr>
          <a:xfrm>
            <a:off x="762000" y="8578850"/>
            <a:ext cx="8096250" cy="1402715"/>
          </a:xfrm>
          <a:prstGeom prst="rect">
            <a:avLst/>
          </a:prstGeom>
        </p:spPr>
        <p:txBody>
          <a:bodyPr lIns="0" tIns="0" rIns="0" bIns="0" rtlCol="0" anchor="t">
            <a:spAutoFit/>
          </a:bodyPr>
          <a:lstStyle/>
          <a:p>
            <a:pPr algn="l">
              <a:lnSpc>
                <a:spcPts val="2735"/>
              </a:lnSpc>
            </a:pPr>
            <a:r>
              <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rPr>
              <a:t>Nguyễn Trường Giang</a:t>
            </a:r>
            <a:endPar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l">
              <a:lnSpc>
                <a:spcPts val="2735"/>
              </a:lnSpc>
            </a:pPr>
            <a:r>
              <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rPr>
              <a:t>Trịnh Hoàng Nam</a:t>
            </a:r>
            <a:endPar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l">
              <a:lnSpc>
                <a:spcPts val="2735"/>
              </a:lnSpc>
            </a:pPr>
            <a:r>
              <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rPr>
              <a:t>Nguyễn Tấn Du </a:t>
            </a:r>
            <a:endPar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l">
              <a:lnSpc>
                <a:spcPts val="2735"/>
              </a:lnSpc>
            </a:pPr>
            <a:r>
              <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rPr>
              <a:t>Trương Gia Phú</a:t>
            </a:r>
            <a:endParaRPr lang="en-US" sz="2025">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p:txBody>
      </p:sp>
      <p:pic>
        <p:nvPicPr>
          <p:cNvPr id="28" name="Picture 27" descr="image.png"/>
          <p:cNvPicPr>
            <a:picLocks noChangeAspect="1"/>
          </p:cNvPicPr>
          <p:nvPr/>
        </p:nvPicPr>
        <p:blipFill>
          <a:blip r:embed="rId2"/>
          <a:stretch>
            <a:fillRect/>
          </a:stretch>
        </p:blipFill>
        <p:spPr>
          <a:xfrm>
            <a:off x="11238230" y="-222250"/>
            <a:ext cx="7049770" cy="10546715"/>
          </a:xfrm>
          <a:prstGeom prst="rect">
            <a:avLst/>
          </a:prstGeom>
        </p:spPr>
      </p:pic>
      <p:pic>
        <p:nvPicPr>
          <p:cNvPr id="6" name="Picture 5" descr="20394b59-d869-4791-98e3-d4304c5f6215"/>
          <p:cNvPicPr>
            <a:picLocks noChangeAspect="1"/>
          </p:cNvPicPr>
          <p:nvPr/>
        </p:nvPicPr>
        <p:blipFill>
          <a:blip r:embed="rId3"/>
          <a:stretch>
            <a:fillRect/>
          </a:stretch>
        </p:blipFill>
        <p:spPr>
          <a:xfrm>
            <a:off x="533400" y="190500"/>
            <a:ext cx="4204970" cy="1405890"/>
          </a:xfrm>
          <a:prstGeom prst="rect">
            <a:avLst/>
          </a:prstGeom>
        </p:spPr>
      </p:pic>
      <p:sp>
        <p:nvSpPr>
          <p:cNvPr id="11" name="Text Box 10"/>
          <p:cNvSpPr txBox="1"/>
          <p:nvPr/>
        </p:nvSpPr>
        <p:spPr>
          <a:xfrm>
            <a:off x="685800" y="8118475"/>
            <a:ext cx="2954020" cy="460375"/>
          </a:xfrm>
          <a:prstGeom prst="rect">
            <a:avLst/>
          </a:prstGeom>
          <a:noFill/>
        </p:spPr>
        <p:txBody>
          <a:bodyPr wrap="square" rtlCol="0">
            <a:spAutoFit/>
          </a:bodyPr>
          <a:p>
            <a:r>
              <a:rPr lang="en-US" sz="2400" b="1">
                <a:latin typeface="Times New Roman" panose="02020603050405020304" charset="0"/>
                <a:cs typeface="Times New Roman" panose="02020603050405020304" charset="0"/>
              </a:rPr>
              <a:t>Thành Viên:</a:t>
            </a:r>
            <a:endParaRPr lang="en-US" sz="2400" b="1">
              <a:latin typeface="Times New Roman" panose="02020603050405020304" charset="0"/>
              <a:cs typeface="Times New Roman" panose="02020603050405020304" charset="0"/>
            </a:endParaRPr>
          </a:p>
        </p:txBody>
      </p:sp>
      <p:sp>
        <p:nvSpPr>
          <p:cNvPr id="32" name="Rectangle 31"/>
          <p:cNvSpPr/>
          <p:nvPr/>
        </p:nvSpPr>
        <p:spPr>
          <a:xfrm>
            <a:off x="609600" y="4533900"/>
            <a:ext cx="76200" cy="79946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2" name="Rectangle 11"/>
          <p:cNvSpPr/>
          <p:nvPr/>
        </p:nvSpPr>
        <p:spPr>
          <a:xfrm flipH="1">
            <a:off x="609600" y="8270875"/>
            <a:ext cx="76200" cy="1710690"/>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pic>
        <p:nvPicPr>
          <p:cNvPr id="19" name="Picture 18" descr="e3c2a611-5a3c-4f58-8e80-1c8e582559a6"/>
          <p:cNvPicPr>
            <a:picLocks noChangeAspect="1"/>
          </p:cNvPicPr>
          <p:nvPr/>
        </p:nvPicPr>
        <p:blipFill>
          <a:blip r:embed="rId4"/>
          <a:stretch>
            <a:fillRect/>
          </a:stretch>
        </p:blipFill>
        <p:spPr>
          <a:xfrm>
            <a:off x="1219200" y="5882640"/>
            <a:ext cx="2760980" cy="18415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Rectangle 1"/>
          <p:cNvSpPr/>
          <p:nvPr/>
        </p:nvSpPr>
        <p:spPr>
          <a:xfrm>
            <a:off x="694944" y="457200"/>
            <a:ext cx="91440" cy="566928"/>
          </a:xfrm>
          <a:prstGeom prst="rect">
            <a:avLst/>
          </a:prstGeom>
          <a:solidFill>
            <a:srgbClr val="AD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3" name="TextBox 2"/>
          <p:cNvSpPr txBox="1"/>
          <p:nvPr/>
        </p:nvSpPr>
        <p:spPr>
          <a:xfrm>
            <a:off x="960120" y="347472"/>
            <a:ext cx="16459200" cy="87630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5400" b="1" i="0">
                <a:solidFill>
                  <a:srgbClr val="1D252D"/>
                </a:solidFill>
                <a:latin typeface="Times New Roman" panose="02020603050405020304" charset="0"/>
                <a:cs typeface="Times New Roman" panose="02020603050405020304" charset="0"/>
              </a:rPr>
              <a:t>Giới thiệu dự án và đặt vấn đề</a:t>
            </a:r>
            <a:endParaRPr sz="5400" b="1" i="0">
              <a:solidFill>
                <a:srgbClr val="1D252D"/>
              </a:solidFill>
              <a:latin typeface="Times New Roman" panose="02020603050405020304" charset="0"/>
              <a:cs typeface="Times New Roman" panose="02020603050405020304" charset="0"/>
            </a:endParaRPr>
          </a:p>
        </p:txBody>
      </p:sp>
      <p:sp>
        <p:nvSpPr>
          <p:cNvPr id="4" name="TextBox 3"/>
          <p:cNvSpPr txBox="1"/>
          <p:nvPr/>
        </p:nvSpPr>
        <p:spPr>
          <a:xfrm>
            <a:off x="1033272" y="1131315"/>
            <a:ext cx="16276320" cy="907415"/>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800">
                <a:solidFill>
                  <a:srgbClr val="5B626A"/>
                </a:solidFill>
                <a:latin typeface="Times New Roman" panose="02020603050405020304" charset="0"/>
                <a:cs typeface="Times New Roman" panose="02020603050405020304" charset="0"/>
                <a:sym typeface="+mn-ea"/>
              </a:rPr>
              <a:t>Tại sao cần một hệ thống quản lý phòng khám nha khoa chuyên nghiệp?</a:t>
            </a:r>
            <a:endParaRPr sz="2800" b="0">
              <a:solidFill>
                <a:srgbClr val="5B626A"/>
              </a:solidFill>
              <a:latin typeface="Times New Roman" panose="02020603050405020304" charset="0"/>
              <a:cs typeface="Times New Roman" panose="02020603050405020304" charset="0"/>
            </a:endParaRPr>
          </a:p>
          <a:p>
            <a:pPr algn="l">
              <a:lnSpc>
                <a:spcPct val="100000"/>
              </a:lnSpc>
              <a:spcBef>
                <a:spcPts val="0"/>
              </a:spcBef>
              <a:spcAft>
                <a:spcPts val="0"/>
              </a:spcAft>
            </a:pPr>
            <a:endParaRPr sz="2800" b="1" i="0">
              <a:solidFill>
                <a:srgbClr val="229199"/>
              </a:solidFill>
              <a:latin typeface="Times New Roman" panose="02020603050405020304" charset="0"/>
              <a:cs typeface="Times New Roman" panose="02020603050405020304" charset="0"/>
            </a:endParaRPr>
          </a:p>
        </p:txBody>
      </p:sp>
      <p:sp>
        <p:nvSpPr>
          <p:cNvPr id="5" name="Rounded Rectangle 4"/>
          <p:cNvSpPr/>
          <p:nvPr/>
        </p:nvSpPr>
        <p:spPr>
          <a:xfrm>
            <a:off x="713232" y="1755648"/>
            <a:ext cx="8302752" cy="6144768"/>
          </a:xfrm>
          <a:prstGeom prst="roundRect">
            <a:avLst/>
          </a:prstGeom>
          <a:solidFill>
            <a:srgbClr val="FFFFFF"/>
          </a:solidFill>
          <a:ln w="19050">
            <a:solidFill>
              <a:srgbClr val="BA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6" name="Rounded Rectangle 5"/>
          <p:cNvSpPr/>
          <p:nvPr/>
        </p:nvSpPr>
        <p:spPr>
          <a:xfrm>
            <a:off x="9253728" y="1755648"/>
            <a:ext cx="8302752" cy="6144768"/>
          </a:xfrm>
          <a:prstGeom prst="roundRect">
            <a:avLst/>
          </a:prstGeom>
          <a:solidFill>
            <a:srgbClr val="FFFFFF"/>
          </a:solidFill>
          <a:ln w="19050">
            <a:solidFill>
              <a:srgbClr val="BA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7" name="Rectangle 6"/>
          <p:cNvSpPr/>
          <p:nvPr/>
        </p:nvSpPr>
        <p:spPr>
          <a:xfrm>
            <a:off x="749300" y="1737106"/>
            <a:ext cx="8266176" cy="109728"/>
          </a:xfrm>
          <a:prstGeom prst="rect">
            <a:avLst/>
          </a:prstGeom>
          <a:solidFill>
            <a:srgbClr val="229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8" name="Rectangle 7"/>
          <p:cNvSpPr/>
          <p:nvPr/>
        </p:nvSpPr>
        <p:spPr>
          <a:xfrm>
            <a:off x="9272015" y="1721866"/>
            <a:ext cx="8266176" cy="109728"/>
          </a:xfrm>
          <a:prstGeom prst="rect">
            <a:avLst/>
          </a:prstGeom>
          <a:solidFill>
            <a:srgbClr val="AD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9" name="TextBox 8"/>
          <p:cNvSpPr txBox="1"/>
          <p:nvPr/>
        </p:nvSpPr>
        <p:spPr>
          <a:xfrm>
            <a:off x="1033271" y="2029968"/>
            <a:ext cx="7662672" cy="46101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700" b="1" i="0">
                <a:solidFill>
                  <a:srgbClr val="229199"/>
                </a:solidFill>
                <a:latin typeface="Times New Roman" panose="02020603050405020304" charset="0"/>
                <a:cs typeface="Times New Roman" panose="02020603050405020304" charset="0"/>
              </a:rPr>
              <a:t>GIỚI THIỆU DỰ ÁN</a:t>
            </a:r>
            <a:endParaRPr sz="2700" b="1" i="0">
              <a:solidFill>
                <a:srgbClr val="229199"/>
              </a:solidFill>
              <a:latin typeface="Times New Roman" panose="02020603050405020304" charset="0"/>
              <a:cs typeface="Times New Roman" panose="02020603050405020304" charset="0"/>
            </a:endParaRPr>
          </a:p>
        </p:txBody>
      </p:sp>
      <p:sp>
        <p:nvSpPr>
          <p:cNvPr id="10" name="TextBox 9"/>
          <p:cNvSpPr txBox="1"/>
          <p:nvPr/>
        </p:nvSpPr>
        <p:spPr>
          <a:xfrm>
            <a:off x="1033271" y="2559812"/>
            <a:ext cx="7662672" cy="96012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100" b="0" i="0">
                <a:solidFill>
                  <a:srgbClr val="2F3943"/>
                </a:solidFill>
                <a:latin typeface="Times New Roman" panose="02020603050405020304" charset="0"/>
                <a:cs typeface="Times New Roman" panose="02020603050405020304" charset="0"/>
              </a:rPr>
              <a:t>Nhóm xây dựng một ứng dụng quản lý tập trung các nghiệp vụ của phòng khám nha khoa, theo dõi quá trình phục vụ bệnh nhân từ lúc tiếp nhận đến khi khám, điều trị và thanh toán.</a:t>
            </a:r>
            <a:endParaRPr sz="2100" b="0" i="0">
              <a:solidFill>
                <a:srgbClr val="2F3943"/>
              </a:solidFill>
              <a:latin typeface="Times New Roman" panose="02020603050405020304" charset="0"/>
              <a:cs typeface="Times New Roman" panose="02020603050405020304" charset="0"/>
            </a:endParaRPr>
          </a:p>
        </p:txBody>
      </p:sp>
      <p:sp>
        <p:nvSpPr>
          <p:cNvPr id="11" name="TextBox 10"/>
          <p:cNvSpPr txBox="1"/>
          <p:nvPr/>
        </p:nvSpPr>
        <p:spPr>
          <a:xfrm>
            <a:off x="1060704" y="3703320"/>
            <a:ext cx="1828800"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CHỨC NĂNG</a:t>
            </a:r>
            <a:endParaRPr sz="2000" b="1" i="0">
              <a:solidFill>
                <a:srgbClr val="1D252D"/>
              </a:solidFill>
              <a:latin typeface="Times New Roman" panose="02020603050405020304" charset="0"/>
              <a:cs typeface="Times New Roman" panose="02020603050405020304" charset="0"/>
            </a:endParaRPr>
          </a:p>
        </p:txBody>
      </p:sp>
      <p:sp>
        <p:nvSpPr>
          <p:cNvPr id="12" name="TextBox 11"/>
          <p:cNvSpPr txBox="1"/>
          <p:nvPr/>
        </p:nvSpPr>
        <p:spPr>
          <a:xfrm>
            <a:off x="2862072" y="3675887"/>
            <a:ext cx="5696712" cy="127635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0" i="0">
                <a:solidFill>
                  <a:srgbClr val="2F3943"/>
                </a:solidFill>
                <a:latin typeface="Times New Roman" panose="02020603050405020304" charset="0"/>
                <a:cs typeface="Times New Roman" panose="02020603050405020304" charset="0"/>
              </a:rPr>
              <a:t>• Hồ sơ bệnh nhân và lịch hẹn
• Khám, chẩn đoán, chỉ định cận lâm sàng và đơn thuốc
• Dịch vụ, bảng giá, hóa đơn, kho thuốc và báo cáo</a:t>
            </a:r>
            <a:endParaRPr sz="2000" b="0" i="0">
              <a:solidFill>
                <a:srgbClr val="2F3943"/>
              </a:solidFill>
              <a:latin typeface="Times New Roman" panose="02020603050405020304" charset="0"/>
              <a:cs typeface="Times New Roman" panose="02020603050405020304" charset="0"/>
            </a:endParaRPr>
          </a:p>
        </p:txBody>
      </p:sp>
      <p:sp>
        <p:nvSpPr>
          <p:cNvPr id="13" name="Rectangle 12"/>
          <p:cNvSpPr/>
          <p:nvPr/>
        </p:nvSpPr>
        <p:spPr>
          <a:xfrm>
            <a:off x="1033271" y="4947285"/>
            <a:ext cx="7662672" cy="16459"/>
          </a:xfrm>
          <a:prstGeom prst="rect">
            <a:avLst/>
          </a:prstGeom>
          <a:solidFill>
            <a:srgbClr val="BAD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charset="0"/>
              <a:cs typeface="Times New Roman" panose="02020603050405020304" charset="0"/>
            </a:endParaRPr>
          </a:p>
        </p:txBody>
      </p:sp>
      <p:sp>
        <p:nvSpPr>
          <p:cNvPr id="14" name="TextBox 13"/>
          <p:cNvSpPr txBox="1"/>
          <p:nvPr/>
        </p:nvSpPr>
        <p:spPr>
          <a:xfrm>
            <a:off x="1060704" y="5047488"/>
            <a:ext cx="1828800"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NGƯỜI DÙNG</a:t>
            </a:r>
            <a:endParaRPr sz="2000" b="1" i="0">
              <a:solidFill>
                <a:srgbClr val="1D252D"/>
              </a:solidFill>
              <a:latin typeface="Times New Roman" panose="02020603050405020304" charset="0"/>
              <a:cs typeface="Times New Roman" panose="02020603050405020304" charset="0"/>
            </a:endParaRPr>
          </a:p>
        </p:txBody>
      </p:sp>
      <p:sp>
        <p:nvSpPr>
          <p:cNvPr id="15" name="TextBox 14"/>
          <p:cNvSpPr txBox="1"/>
          <p:nvPr/>
        </p:nvSpPr>
        <p:spPr>
          <a:xfrm>
            <a:off x="2862072" y="5020056"/>
            <a:ext cx="5696712" cy="661035"/>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0" i="0">
                <a:solidFill>
                  <a:srgbClr val="2F3943"/>
                </a:solidFill>
                <a:latin typeface="Times New Roman" panose="02020603050405020304" charset="0"/>
                <a:cs typeface="Times New Roman" panose="02020603050405020304" charset="0"/>
              </a:rPr>
              <a:t>Quản trị viên, quản lý phòng khám, lễ tân, bác sĩ, kỹ thuật viên và bộ phận dược.</a:t>
            </a:r>
            <a:endParaRPr sz="2000" b="0" i="0">
              <a:solidFill>
                <a:srgbClr val="2F3943"/>
              </a:solidFill>
              <a:latin typeface="Times New Roman" panose="02020603050405020304" charset="0"/>
              <a:cs typeface="Times New Roman" panose="02020603050405020304" charset="0"/>
            </a:endParaRPr>
          </a:p>
        </p:txBody>
      </p:sp>
      <p:sp>
        <p:nvSpPr>
          <p:cNvPr id="16" name="Rounded Rectangle 15"/>
          <p:cNvSpPr/>
          <p:nvPr/>
        </p:nvSpPr>
        <p:spPr>
          <a:xfrm>
            <a:off x="1033271" y="6080760"/>
            <a:ext cx="7662672" cy="1389888"/>
          </a:xfrm>
          <a:prstGeom prst="roundRect">
            <a:avLst/>
          </a:prstGeom>
          <a:solidFill>
            <a:srgbClr val="EFF9F8"/>
          </a:solidFill>
          <a:ln w="12700">
            <a:solidFill>
              <a:srgbClr val="BCE1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7" name="TextBox 16"/>
          <p:cNvSpPr txBox="1"/>
          <p:nvPr/>
        </p:nvSpPr>
        <p:spPr>
          <a:xfrm>
            <a:off x="1243584" y="6227064"/>
            <a:ext cx="7242048" cy="27432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1600" b="1" i="0">
                <a:solidFill>
                  <a:srgbClr val="229199"/>
                </a:solidFill>
                <a:latin typeface="Times New Roman" panose="02020603050405020304" charset="0"/>
                <a:cs typeface="Times New Roman" panose="02020603050405020304" charset="0"/>
              </a:rPr>
              <a:t>QUY TRÌNH TỔNG QUÁT</a:t>
            </a:r>
            <a:endParaRPr sz="1600" b="1" i="0">
              <a:solidFill>
                <a:srgbClr val="229199"/>
              </a:solidFill>
              <a:latin typeface="Times New Roman" panose="02020603050405020304" charset="0"/>
              <a:cs typeface="Times New Roman" panose="02020603050405020304" charset="0"/>
            </a:endParaRPr>
          </a:p>
        </p:txBody>
      </p:sp>
      <p:sp>
        <p:nvSpPr>
          <p:cNvPr id="18" name="TextBox 17"/>
          <p:cNvSpPr txBox="1"/>
          <p:nvPr/>
        </p:nvSpPr>
        <p:spPr>
          <a:xfrm>
            <a:off x="1243584" y="6583680"/>
            <a:ext cx="7242048" cy="585216"/>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1900" b="1" i="0">
                <a:solidFill>
                  <a:srgbClr val="1D252D"/>
                </a:solidFill>
                <a:latin typeface="Times New Roman" panose="02020603050405020304" charset="0"/>
                <a:cs typeface="Times New Roman" panose="02020603050405020304" charset="0"/>
              </a:rPr>
              <a:t>Tiếp nhận  →  Khám &amp; điều trị  →  Thanh toán  →  Cấp thuốc / Báo cáo</a:t>
            </a:r>
            <a:endParaRPr sz="1900" b="1" i="0">
              <a:solidFill>
                <a:srgbClr val="1D252D"/>
              </a:solidFill>
              <a:latin typeface="Times New Roman" panose="02020603050405020304" charset="0"/>
              <a:cs typeface="Times New Roman" panose="02020603050405020304" charset="0"/>
            </a:endParaRPr>
          </a:p>
        </p:txBody>
      </p:sp>
      <p:sp>
        <p:nvSpPr>
          <p:cNvPr id="19" name="TextBox 18"/>
          <p:cNvSpPr txBox="1"/>
          <p:nvPr/>
        </p:nvSpPr>
        <p:spPr>
          <a:xfrm>
            <a:off x="9573767" y="2029968"/>
            <a:ext cx="7662672" cy="46101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700" b="1" i="0">
                <a:solidFill>
                  <a:srgbClr val="AD1F33"/>
                </a:solidFill>
                <a:latin typeface="Times New Roman" panose="02020603050405020304" charset="0"/>
                <a:cs typeface="Times New Roman" panose="02020603050405020304" charset="0"/>
              </a:rPr>
              <a:t>ĐẶT VẤN ĐỀ</a:t>
            </a:r>
            <a:endParaRPr sz="2700" b="1" i="0">
              <a:solidFill>
                <a:srgbClr val="AD1F33"/>
              </a:solidFill>
              <a:latin typeface="Times New Roman" panose="02020603050405020304" charset="0"/>
              <a:cs typeface="Times New Roman" panose="02020603050405020304" charset="0"/>
            </a:endParaRPr>
          </a:p>
        </p:txBody>
      </p:sp>
      <p:sp>
        <p:nvSpPr>
          <p:cNvPr id="20" name="TextBox 19"/>
          <p:cNvSpPr txBox="1"/>
          <p:nvPr/>
        </p:nvSpPr>
        <p:spPr>
          <a:xfrm>
            <a:off x="9524872" y="2564257"/>
            <a:ext cx="7662672" cy="713232"/>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100" b="0" i="0">
                <a:solidFill>
                  <a:srgbClr val="2F3943"/>
                </a:solidFill>
                <a:latin typeface="Times New Roman" panose="02020603050405020304" charset="0"/>
                <a:cs typeface="Times New Roman" panose="02020603050405020304" charset="0"/>
              </a:rPr>
              <a:t>Khi quy trình được quản lý thủ công hoặc dữ liệu nằm rời rạc ở nhiều bộ phận, phòng khám dễ phát sinh chậm trễ, nhầm lẫn và khó kiểm soát hoạt động.</a:t>
            </a:r>
            <a:endParaRPr sz="2100" b="0" i="0">
              <a:solidFill>
                <a:srgbClr val="2F3943"/>
              </a:solidFill>
              <a:latin typeface="Times New Roman" panose="02020603050405020304" charset="0"/>
              <a:cs typeface="Times New Roman" panose="02020603050405020304" charset="0"/>
            </a:endParaRPr>
          </a:p>
        </p:txBody>
      </p:sp>
      <p:sp>
        <p:nvSpPr>
          <p:cNvPr id="21" name="Oval 20"/>
          <p:cNvSpPr/>
          <p:nvPr/>
        </p:nvSpPr>
        <p:spPr>
          <a:xfrm>
            <a:off x="9610344" y="3777361"/>
            <a:ext cx="146304" cy="146304"/>
          </a:xfrm>
          <a:prstGeom prst="ellipse">
            <a:avLst/>
          </a:prstGeom>
          <a:solidFill>
            <a:srgbClr val="AD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2" name="TextBox 21"/>
          <p:cNvSpPr txBox="1"/>
          <p:nvPr/>
        </p:nvSpPr>
        <p:spPr>
          <a:xfrm>
            <a:off x="9875519" y="3713353"/>
            <a:ext cx="7388352"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LỊCH HẸN &amp; TIẾP NHẬN</a:t>
            </a:r>
            <a:endParaRPr sz="2000" b="1" i="0">
              <a:solidFill>
                <a:srgbClr val="1D252D"/>
              </a:solidFill>
              <a:latin typeface="Times New Roman" panose="02020603050405020304" charset="0"/>
              <a:cs typeface="Times New Roman" panose="02020603050405020304" charset="0"/>
            </a:endParaRPr>
          </a:p>
        </p:txBody>
      </p:sp>
      <p:sp>
        <p:nvSpPr>
          <p:cNvPr id="23" name="TextBox 22"/>
          <p:cNvSpPr txBox="1"/>
          <p:nvPr/>
        </p:nvSpPr>
        <p:spPr>
          <a:xfrm>
            <a:off x="9875519" y="3996816"/>
            <a:ext cx="7388352"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0" i="0">
                <a:solidFill>
                  <a:srgbClr val="2F3943"/>
                </a:solidFill>
                <a:latin typeface="Times New Roman" panose="02020603050405020304" charset="0"/>
                <a:cs typeface="Times New Roman" panose="02020603050405020304" charset="0"/>
              </a:rPr>
              <a:t>Dễ trùng hoặc bỏ sót lịch; khó sắp xếp thứ tự và phân luồng bệnh nhân</a:t>
            </a:r>
            <a:r>
              <a:rPr b="0" i="0">
                <a:solidFill>
                  <a:srgbClr val="2F3943"/>
                </a:solidFill>
                <a:latin typeface="Times New Roman" panose="02020603050405020304" charset="0"/>
                <a:cs typeface="Times New Roman" panose="02020603050405020304" charset="0"/>
              </a:rPr>
              <a:t>.</a:t>
            </a:r>
            <a:endParaRPr b="0" i="0">
              <a:solidFill>
                <a:srgbClr val="2F3943"/>
              </a:solidFill>
              <a:latin typeface="Times New Roman" panose="02020603050405020304" charset="0"/>
              <a:cs typeface="Times New Roman" panose="02020603050405020304" charset="0"/>
            </a:endParaRPr>
          </a:p>
        </p:txBody>
      </p:sp>
      <p:sp>
        <p:nvSpPr>
          <p:cNvPr id="24" name="Oval 23"/>
          <p:cNvSpPr/>
          <p:nvPr/>
        </p:nvSpPr>
        <p:spPr>
          <a:xfrm>
            <a:off x="9610344" y="4646041"/>
            <a:ext cx="146304" cy="146304"/>
          </a:xfrm>
          <a:prstGeom prst="ellipse">
            <a:avLst/>
          </a:prstGeom>
          <a:solidFill>
            <a:srgbClr val="AD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5" name="TextBox 24"/>
          <p:cNvSpPr txBox="1"/>
          <p:nvPr/>
        </p:nvSpPr>
        <p:spPr>
          <a:xfrm>
            <a:off x="9875519" y="4582033"/>
            <a:ext cx="7388352"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HỒ SƠ BỆNH NHÂN</a:t>
            </a:r>
            <a:endParaRPr sz="2000" b="1" i="0">
              <a:solidFill>
                <a:srgbClr val="1D252D"/>
              </a:solidFill>
              <a:latin typeface="Times New Roman" panose="02020603050405020304" charset="0"/>
              <a:cs typeface="Times New Roman" panose="02020603050405020304" charset="0"/>
            </a:endParaRPr>
          </a:p>
        </p:txBody>
      </p:sp>
      <p:sp>
        <p:nvSpPr>
          <p:cNvPr id="26" name="TextBox 25"/>
          <p:cNvSpPr txBox="1"/>
          <p:nvPr/>
        </p:nvSpPr>
        <p:spPr>
          <a:xfrm>
            <a:off x="9875519" y="4865497"/>
            <a:ext cx="7388352"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0" i="0">
                <a:solidFill>
                  <a:srgbClr val="2F3943"/>
                </a:solidFill>
                <a:latin typeface="Times New Roman" panose="02020603050405020304" charset="0"/>
                <a:cs typeface="Times New Roman" panose="02020603050405020304" charset="0"/>
              </a:rPr>
              <a:t>Tra cứu lịch sử khám, kết quả và thông tin điều trị mất thời gian</a:t>
            </a:r>
            <a:r>
              <a:rPr b="0" i="0">
                <a:solidFill>
                  <a:srgbClr val="2F3943"/>
                </a:solidFill>
                <a:latin typeface="Times New Roman" panose="02020603050405020304" charset="0"/>
                <a:cs typeface="Times New Roman" panose="02020603050405020304" charset="0"/>
              </a:rPr>
              <a:t>.</a:t>
            </a:r>
            <a:endParaRPr b="0" i="0">
              <a:solidFill>
                <a:srgbClr val="2F3943"/>
              </a:solidFill>
              <a:latin typeface="Times New Roman" panose="02020603050405020304" charset="0"/>
              <a:cs typeface="Times New Roman" panose="02020603050405020304" charset="0"/>
            </a:endParaRPr>
          </a:p>
        </p:txBody>
      </p:sp>
      <p:sp>
        <p:nvSpPr>
          <p:cNvPr id="27" name="Oval 26"/>
          <p:cNvSpPr/>
          <p:nvPr/>
        </p:nvSpPr>
        <p:spPr>
          <a:xfrm>
            <a:off x="9610344" y="5514721"/>
            <a:ext cx="146304" cy="146304"/>
          </a:xfrm>
          <a:prstGeom prst="ellipse">
            <a:avLst/>
          </a:prstGeom>
          <a:solidFill>
            <a:srgbClr val="AD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8" name="TextBox 27"/>
          <p:cNvSpPr txBox="1"/>
          <p:nvPr/>
        </p:nvSpPr>
        <p:spPr>
          <a:xfrm>
            <a:off x="9875519" y="5450713"/>
            <a:ext cx="7388352"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PHỐI HỢP NGHIỆP VỤ</a:t>
            </a:r>
            <a:endParaRPr sz="2000" b="1" i="0">
              <a:solidFill>
                <a:srgbClr val="1D252D"/>
              </a:solidFill>
              <a:latin typeface="Times New Roman" panose="02020603050405020304" charset="0"/>
              <a:cs typeface="Times New Roman" panose="02020603050405020304" charset="0"/>
            </a:endParaRPr>
          </a:p>
        </p:txBody>
      </p:sp>
      <p:sp>
        <p:nvSpPr>
          <p:cNvPr id="29" name="TextBox 28"/>
          <p:cNvSpPr txBox="1"/>
          <p:nvPr/>
        </p:nvSpPr>
        <p:spPr>
          <a:xfrm>
            <a:off x="9875519" y="5734176"/>
            <a:ext cx="7388352" cy="661035"/>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0" i="0">
                <a:solidFill>
                  <a:srgbClr val="2F3943"/>
                </a:solidFill>
                <a:latin typeface="Times New Roman" panose="02020603050405020304" charset="0"/>
                <a:cs typeface="Times New Roman" panose="02020603050405020304" charset="0"/>
              </a:rPr>
              <a:t>Thông tin giữa khám, chỉ định cận lâm sàng, kê đơn và cấp thuốc có thể thiếu liền mạch</a:t>
            </a:r>
            <a:r>
              <a:rPr b="0" i="0">
                <a:solidFill>
                  <a:srgbClr val="2F3943"/>
                </a:solidFill>
                <a:latin typeface="Times New Roman" panose="02020603050405020304" charset="0"/>
                <a:cs typeface="Times New Roman" panose="02020603050405020304" charset="0"/>
              </a:rPr>
              <a:t>.</a:t>
            </a:r>
            <a:endParaRPr b="0" i="0">
              <a:solidFill>
                <a:srgbClr val="2F3943"/>
              </a:solidFill>
              <a:latin typeface="Times New Roman" panose="02020603050405020304" charset="0"/>
              <a:cs typeface="Times New Roman" panose="02020603050405020304" charset="0"/>
            </a:endParaRPr>
          </a:p>
        </p:txBody>
      </p:sp>
      <p:sp>
        <p:nvSpPr>
          <p:cNvPr id="30" name="Oval 29"/>
          <p:cNvSpPr/>
          <p:nvPr/>
        </p:nvSpPr>
        <p:spPr>
          <a:xfrm>
            <a:off x="9610344" y="6645021"/>
            <a:ext cx="146304" cy="146304"/>
          </a:xfrm>
          <a:prstGeom prst="ellipse">
            <a:avLst/>
          </a:prstGeom>
          <a:solidFill>
            <a:srgbClr val="AD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31" name="TextBox 30"/>
          <p:cNvSpPr txBox="1"/>
          <p:nvPr/>
        </p:nvSpPr>
        <p:spPr>
          <a:xfrm>
            <a:off x="9875519" y="6581013"/>
            <a:ext cx="7388352" cy="3530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THU PHÍ &amp; KHO THUỐC</a:t>
            </a:r>
            <a:endParaRPr sz="2000" b="1" i="0">
              <a:solidFill>
                <a:srgbClr val="1D252D"/>
              </a:solidFill>
              <a:latin typeface="Times New Roman" panose="02020603050405020304" charset="0"/>
              <a:cs typeface="Times New Roman" panose="02020603050405020304" charset="0"/>
            </a:endParaRPr>
          </a:p>
        </p:txBody>
      </p:sp>
      <p:sp>
        <p:nvSpPr>
          <p:cNvPr id="32" name="TextBox 31"/>
          <p:cNvSpPr txBox="1"/>
          <p:nvPr/>
        </p:nvSpPr>
        <p:spPr>
          <a:xfrm>
            <a:off x="9875519" y="6864476"/>
            <a:ext cx="7388352" cy="661035"/>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0" i="0">
                <a:solidFill>
                  <a:srgbClr val="2F3943"/>
                </a:solidFill>
                <a:latin typeface="Times New Roman" panose="02020603050405020304" charset="0"/>
                <a:cs typeface="Times New Roman" panose="02020603050405020304" charset="0"/>
              </a:rPr>
              <a:t>Khó đối soát hóa đơn, tổng hợp doanh thu và theo dõi tồn kho, hạn dùng nếu thiếu dữ liệu tập trung.</a:t>
            </a:r>
            <a:endParaRPr sz="2000" b="0" i="0">
              <a:solidFill>
                <a:srgbClr val="2F3943"/>
              </a:solidFill>
              <a:latin typeface="Times New Roman" panose="02020603050405020304" charset="0"/>
              <a:cs typeface="Times New Roman" panose="02020603050405020304" charset="0"/>
            </a:endParaRPr>
          </a:p>
        </p:txBody>
      </p:sp>
      <p:sp>
        <p:nvSpPr>
          <p:cNvPr id="33" name="Rounded Rectangle 32"/>
          <p:cNvSpPr/>
          <p:nvPr/>
        </p:nvSpPr>
        <p:spPr>
          <a:xfrm>
            <a:off x="713232" y="8138160"/>
            <a:ext cx="16843248" cy="1005840"/>
          </a:xfrm>
          <a:prstGeom prst="roundRect">
            <a:avLst/>
          </a:prstGeom>
          <a:solidFill>
            <a:srgbClr val="FCF1F3"/>
          </a:solidFill>
          <a:ln w="15240">
            <a:solidFill>
              <a:srgbClr val="E7B8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34" name="TextBox 33"/>
          <p:cNvSpPr txBox="1"/>
          <p:nvPr/>
        </p:nvSpPr>
        <p:spPr>
          <a:xfrm>
            <a:off x="960120" y="8302752"/>
            <a:ext cx="1920240" cy="365760"/>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1900" b="1" i="0">
                <a:solidFill>
                  <a:srgbClr val="AD1F33"/>
                </a:solidFill>
                <a:latin typeface="Times New Roman" panose="02020603050405020304" charset="0"/>
                <a:cs typeface="Times New Roman" panose="02020603050405020304" charset="0"/>
              </a:rPr>
              <a:t>VÌ VẬY, NHÓM</a:t>
            </a:r>
            <a:endParaRPr sz="1900" b="1" i="0">
              <a:solidFill>
                <a:srgbClr val="AD1F33"/>
              </a:solidFill>
              <a:latin typeface="Times New Roman" panose="02020603050405020304" charset="0"/>
              <a:cs typeface="Times New Roman" panose="02020603050405020304" charset="0"/>
            </a:endParaRPr>
          </a:p>
        </p:txBody>
      </p:sp>
      <p:sp>
        <p:nvSpPr>
          <p:cNvPr id="35" name="TextBox 34"/>
          <p:cNvSpPr txBox="1"/>
          <p:nvPr/>
        </p:nvSpPr>
        <p:spPr>
          <a:xfrm>
            <a:off x="2880360" y="8257031"/>
            <a:ext cx="14127480" cy="566928"/>
          </a:xfrm>
          <a:prstGeom prst="rect">
            <a:avLst/>
          </a:prstGeom>
          <a:noFill/>
        </p:spPr>
        <p:txBody>
          <a:bodyPr wrap="square" lIns="45720" tIns="22860" rIns="45720" bIns="22860" anchor="t">
            <a:spAutoFit/>
          </a:bodyPr>
          <a:lstStyle/>
          <a:p>
            <a:pPr algn="l">
              <a:lnSpc>
                <a:spcPct val="100000"/>
              </a:lnSpc>
              <a:spcBef>
                <a:spcPts val="0"/>
              </a:spcBef>
              <a:spcAft>
                <a:spcPts val="0"/>
              </a:spcAft>
            </a:pPr>
            <a:r>
              <a:rPr sz="2000" b="1" i="0">
                <a:solidFill>
                  <a:srgbClr val="1D252D"/>
                </a:solidFill>
                <a:latin typeface="Times New Roman" panose="02020603050405020304" charset="0"/>
                <a:cs typeface="Times New Roman" panose="02020603050405020304" charset="0"/>
              </a:rPr>
              <a:t>đề xuất hệ thống quản lý tập trung để chuẩn hóa quy trình, phân quyền theo vai trò, lưu vết thao tác và hỗ trợ thống kê chính xác hơn.</a:t>
            </a:r>
            <a:endParaRPr sz="2000" b="1" i="0">
              <a:solidFill>
                <a:srgbClr val="1D252D"/>
              </a:solidFill>
              <a:latin typeface="Times New Roman" panose="02020603050405020304" charset="0"/>
              <a:cs typeface="Times New Roman" panose="02020603050405020304" charset="0"/>
            </a:endParaRPr>
          </a:p>
        </p:txBody>
      </p:sp>
      <p:sp>
        <p:nvSpPr>
          <p:cNvPr id="39" name="TextBox 34"/>
          <p:cNvSpPr txBox="1"/>
          <p:nvPr/>
        </p:nvSpPr>
        <p:spPr>
          <a:xfrm>
            <a:off x="17734788" y="9802368"/>
            <a:ext cx="114300" cy="138430"/>
          </a:xfrm>
          <a:prstGeom prst="rect">
            <a:avLst/>
          </a:prstGeom>
          <a:noFill/>
        </p:spPr>
        <p:txBody>
          <a:bodyPr wrap="none" lIns="0" tIns="0" rIns="0" bIns="0">
            <a:spAutoFit/>
          </a:bodyPr>
          <a:lstStyle/>
          <a:p>
            <a:pPr algn="r"/>
            <a:r>
              <a:rPr sz="900" b="1">
                <a:solidFill>
                  <a:srgbClr val="111111"/>
                </a:solidFill>
                <a:latin typeface="Times New Roman" panose="02020603050405020304" charset="0"/>
                <a:cs typeface="Times New Roman" panose="02020603050405020304" charset="0"/>
              </a:rPr>
              <a:t>0</a:t>
            </a:r>
            <a:r>
              <a:rPr lang="en-US" sz="900" b="1">
                <a:solidFill>
                  <a:srgbClr val="111111"/>
                </a:solidFill>
                <a:latin typeface="Times New Roman" panose="02020603050405020304" charset="0"/>
                <a:cs typeface="Times New Roman" panose="02020603050405020304" charset="0"/>
              </a:rPr>
              <a:t>2</a:t>
            </a:r>
            <a:endParaRPr lang="en-US" sz="900" b="1">
              <a:solidFill>
                <a:srgbClr val="11111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pic>
        <p:nvPicPr>
          <p:cNvPr id="52" name="Picture 51" descr="dental_bg.png"/>
          <p:cNvPicPr>
            <a:picLocks noChangeAspect="1"/>
          </p:cNvPicPr>
          <p:nvPr/>
        </p:nvPicPr>
        <p:blipFill>
          <a:blip r:embed="rId1"/>
          <a:stretch>
            <a:fillRect/>
          </a:stretch>
        </p:blipFill>
        <p:spPr>
          <a:xfrm>
            <a:off x="0" y="0"/>
            <a:ext cx="18288000" cy="10287000"/>
          </a:xfrm>
          <a:prstGeom prst="rect">
            <a:avLst/>
          </a:prstGeom>
        </p:spPr>
      </p:pic>
      <p:sp>
        <p:nvSpPr>
          <p:cNvPr id="51" name="Oval 50"/>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50" name="Oval 49"/>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9" name="Oval 48"/>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 name="TextBox 2"/>
          <p:cNvSpPr txBox="1"/>
          <p:nvPr/>
        </p:nvSpPr>
        <p:spPr>
          <a:xfrm>
            <a:off x="1051560" y="647700"/>
            <a:ext cx="14287500" cy="602615"/>
          </a:xfrm>
          <a:prstGeom prst="rect">
            <a:avLst/>
          </a:prstGeom>
        </p:spPr>
        <p:txBody>
          <a:bodyPr lIns="0" tIns="0" rIns="0" bIns="0" rtlCol="0" anchor="t">
            <a:spAutoFit/>
          </a:bodyPr>
          <a:lstStyle/>
          <a:p>
            <a:pPr algn="l">
              <a:lnSpc>
                <a:spcPts val="4700"/>
              </a:lnSpc>
            </a:pPr>
            <a:r>
              <a:rPr 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Quy trình nghiệp vụ chính</a:t>
            </a:r>
            <a:endParaRPr 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3" name="TextBox 3"/>
          <p:cNvSpPr txBox="1"/>
          <p:nvPr/>
        </p:nvSpPr>
        <p:spPr>
          <a:xfrm>
            <a:off x="1047750" y="1409700"/>
            <a:ext cx="14287500" cy="323850"/>
          </a:xfrm>
          <a:prstGeom prst="rect">
            <a:avLst/>
          </a:prstGeom>
        </p:spPr>
        <p:txBody>
          <a:bodyPr lIns="0" tIns="0" rIns="0" bIns="0" rtlCol="0" anchor="t">
            <a:spAutoFit/>
          </a:bodyPr>
          <a:lstStyle/>
          <a:p>
            <a:pPr algn="l">
              <a:lnSpc>
                <a:spcPts val="2530"/>
              </a:lnSpc>
            </a:pPr>
            <a:r>
              <a:rPr lang="en-US" sz="28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Một </a:t>
            </a:r>
            <a:r>
              <a:rPr lang="en-US" sz="28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hành trình liên tục, có kiểm soát tại mỗi điểm chuyển giao</a:t>
            </a:r>
            <a:endParaRPr lang="en-US" sz="28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p:txBody>
      </p:sp>
      <p:grpSp>
        <p:nvGrpSpPr>
          <p:cNvPr id="4" name="Group 4"/>
          <p:cNvGrpSpPr/>
          <p:nvPr/>
        </p:nvGrpSpPr>
        <p:grpSpPr>
          <a:xfrm rot="0">
            <a:off x="1047750" y="2193925"/>
            <a:ext cx="2857500" cy="1143000"/>
            <a:chOff x="0" y="0"/>
            <a:chExt cx="3810000" cy="1524000"/>
          </a:xfrm>
        </p:grpSpPr>
        <p:sp>
          <p:nvSpPr>
            <p:cNvPr id="5" name="Freeform 5"/>
            <p:cNvSpPr/>
            <p:nvPr/>
          </p:nvSpPr>
          <p:spPr>
            <a:xfrm>
              <a:off x="0" y="0"/>
              <a:ext cx="3810000" cy="1524000"/>
            </a:xfrm>
            <a:custGeom>
              <a:avLst/>
              <a:gdLst/>
              <a:ahLst/>
              <a:cxnLst/>
              <a:rect l="l" t="t" r="r" b="b"/>
              <a:pathLst>
                <a:path w="3810000" h="1524000">
                  <a:moveTo>
                    <a:pt x="59267" y="0"/>
                  </a:moveTo>
                  <a:lnTo>
                    <a:pt x="3750733" y="0"/>
                  </a:lnTo>
                  <a:cubicBezTo>
                    <a:pt x="3783466" y="0"/>
                    <a:pt x="3810000" y="26535"/>
                    <a:pt x="3810000" y="59267"/>
                  </a:cubicBezTo>
                  <a:lnTo>
                    <a:pt x="3810000" y="1464733"/>
                  </a:lnTo>
                  <a:cubicBezTo>
                    <a:pt x="3810000" y="1497465"/>
                    <a:pt x="3783466" y="1524000"/>
                    <a:pt x="3750733" y="1524000"/>
                  </a:cubicBezTo>
                  <a:lnTo>
                    <a:pt x="59267" y="1524000"/>
                  </a:lnTo>
                  <a:cubicBezTo>
                    <a:pt x="26535" y="1524000"/>
                    <a:pt x="0" y="1497465"/>
                    <a:pt x="0" y="1464733"/>
                  </a:cubicBezTo>
                  <a:lnTo>
                    <a:pt x="0" y="59267"/>
                  </a:lnTo>
                  <a:cubicBezTo>
                    <a:pt x="0" y="26535"/>
                    <a:pt x="26535" y="0"/>
                    <a:pt x="59267" y="0"/>
                  </a:cubicBezTo>
                  <a:close/>
                </a:path>
              </a:pathLst>
            </a:custGeom>
            <a:solidFill>
              <a:srgbClr val="A61E2D"/>
            </a:solidFill>
            <a:ln w="19050" cap="sq">
              <a:solidFill>
                <a:srgbClr val="A61E2D"/>
              </a:solidFill>
              <a:prstDash val="solid"/>
              <a:miter/>
            </a:ln>
          </p:spPr>
        </p:sp>
        <p:sp>
          <p:nvSpPr>
            <p:cNvPr id="6" name="TextBox 6"/>
            <p:cNvSpPr txBox="1"/>
            <p:nvPr/>
          </p:nvSpPr>
          <p:spPr>
            <a:xfrm>
              <a:off x="0" y="19050"/>
              <a:ext cx="3810000" cy="1504950"/>
            </a:xfrm>
            <a:prstGeom prst="rect">
              <a:avLst/>
            </a:prstGeom>
          </p:spPr>
          <p:txBody>
            <a:bodyPr lIns="50800" tIns="50800" rIns="50800" bIns="50800" rtlCol="0" anchor="ctr"/>
            <a:lstStyle/>
            <a:p>
              <a:pPr algn="ctr">
                <a:lnSpc>
                  <a:spcPts val="2070"/>
                </a:lnSpc>
              </a:pPr>
              <a:r>
                <a:rPr lang="en-US" sz="1800" b="1">
                  <a:solidFill>
                    <a:srgbClr val="FFFFFF"/>
                  </a:solidFill>
                  <a:latin typeface="Times New Roman" panose="02020603050405020304" charset="0"/>
                  <a:ea typeface="Noto Sans Bold" panose="020B0802040504020204"/>
                  <a:cs typeface="Times New Roman" panose="02020603050405020304" charset="0"/>
                  <a:sym typeface="Noto Sans Bold" panose="020B0802040504020204"/>
                </a:rPr>
                <a:t>TIẾP NHẬN</a:t>
              </a:r>
              <a:endParaRPr lang="en-US" sz="1800" b="1">
                <a:solidFill>
                  <a:srgbClr val="FFFFFF"/>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grpSp>
      <p:sp>
        <p:nvSpPr>
          <p:cNvPr id="7" name="AutoShape 7"/>
          <p:cNvSpPr/>
          <p:nvPr/>
        </p:nvSpPr>
        <p:spPr>
          <a:xfrm>
            <a:off x="3914775" y="2743200"/>
            <a:ext cx="476250" cy="0"/>
          </a:xfrm>
          <a:prstGeom prst="line">
            <a:avLst/>
          </a:prstGeom>
          <a:ln w="28575" cap="flat">
            <a:solidFill>
              <a:srgbClr val="A61E2D"/>
            </a:solidFill>
            <a:prstDash val="solid"/>
            <a:headEnd type="none" w="sm" len="sm"/>
            <a:tailEnd type="none" w="sm" len="sm"/>
          </a:ln>
        </p:spPr>
        <p:txBody>
          <a:bodyPr/>
          <a:p/>
        </p:txBody>
      </p:sp>
      <p:grpSp>
        <p:nvGrpSpPr>
          <p:cNvPr id="8" name="Group 8"/>
          <p:cNvGrpSpPr/>
          <p:nvPr/>
        </p:nvGrpSpPr>
        <p:grpSpPr>
          <a:xfrm rot="0">
            <a:off x="4400550" y="2179320"/>
            <a:ext cx="2857500" cy="1143000"/>
            <a:chOff x="0" y="0"/>
            <a:chExt cx="3810000" cy="1524000"/>
          </a:xfrm>
        </p:grpSpPr>
        <p:sp>
          <p:nvSpPr>
            <p:cNvPr id="9" name="Freeform 9"/>
            <p:cNvSpPr/>
            <p:nvPr/>
          </p:nvSpPr>
          <p:spPr>
            <a:xfrm>
              <a:off x="0" y="0"/>
              <a:ext cx="3810000" cy="1524000"/>
            </a:xfrm>
            <a:custGeom>
              <a:avLst/>
              <a:gdLst/>
              <a:ahLst/>
              <a:cxnLst/>
              <a:rect l="l" t="t" r="r" b="b"/>
              <a:pathLst>
                <a:path w="3810000" h="1524000">
                  <a:moveTo>
                    <a:pt x="59267" y="0"/>
                  </a:moveTo>
                  <a:lnTo>
                    <a:pt x="3750733" y="0"/>
                  </a:lnTo>
                  <a:cubicBezTo>
                    <a:pt x="3783466" y="0"/>
                    <a:pt x="3810000" y="26535"/>
                    <a:pt x="3810000" y="59267"/>
                  </a:cubicBezTo>
                  <a:lnTo>
                    <a:pt x="3810000" y="1464733"/>
                  </a:lnTo>
                  <a:cubicBezTo>
                    <a:pt x="3810000" y="1497465"/>
                    <a:pt x="3783466" y="1524000"/>
                    <a:pt x="3750733" y="1524000"/>
                  </a:cubicBezTo>
                  <a:lnTo>
                    <a:pt x="59267" y="1524000"/>
                  </a:lnTo>
                  <a:cubicBezTo>
                    <a:pt x="26535" y="1524000"/>
                    <a:pt x="0" y="1497465"/>
                    <a:pt x="0" y="1464733"/>
                  </a:cubicBezTo>
                  <a:lnTo>
                    <a:pt x="0" y="59267"/>
                  </a:lnTo>
                  <a:cubicBezTo>
                    <a:pt x="0" y="26535"/>
                    <a:pt x="26535" y="0"/>
                    <a:pt x="59267" y="0"/>
                  </a:cubicBezTo>
                  <a:close/>
                </a:path>
              </a:pathLst>
            </a:custGeom>
            <a:solidFill>
              <a:srgbClr val="FFFFFF"/>
            </a:solidFill>
            <a:ln w="19050" cap="sq">
              <a:solidFill>
                <a:srgbClr val="D9D5CF"/>
              </a:solidFill>
              <a:prstDash val="solid"/>
              <a:miter/>
            </a:ln>
          </p:spPr>
        </p:sp>
        <p:sp>
          <p:nvSpPr>
            <p:cNvPr id="10" name="TextBox 10"/>
            <p:cNvSpPr txBox="1"/>
            <p:nvPr/>
          </p:nvSpPr>
          <p:spPr>
            <a:xfrm>
              <a:off x="0" y="19050"/>
              <a:ext cx="3810000" cy="1504950"/>
            </a:xfrm>
            <a:prstGeom prst="rect">
              <a:avLst/>
            </a:prstGeom>
          </p:spPr>
          <p:txBody>
            <a:bodyPr lIns="50800" tIns="50800" rIns="50800" bIns="50800" rtlCol="0" anchor="ctr"/>
            <a:lstStyle/>
            <a:p>
              <a:pPr algn="ctr">
                <a:lnSpc>
                  <a:spcPts val="2070"/>
                </a:lnSpc>
              </a:pPr>
              <a:r>
                <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rPr>
                <a:t>KHÁM BAN ĐẦU</a:t>
              </a:r>
              <a:endPar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grpSp>
      <p:sp>
        <p:nvSpPr>
          <p:cNvPr id="11" name="AutoShape 11"/>
          <p:cNvSpPr/>
          <p:nvPr/>
        </p:nvSpPr>
        <p:spPr>
          <a:xfrm>
            <a:off x="7239000" y="2743200"/>
            <a:ext cx="476250" cy="0"/>
          </a:xfrm>
          <a:prstGeom prst="line">
            <a:avLst/>
          </a:prstGeom>
          <a:ln w="28575" cap="flat">
            <a:solidFill>
              <a:srgbClr val="A61E2D"/>
            </a:solidFill>
            <a:prstDash val="solid"/>
            <a:headEnd type="none" w="sm" len="sm"/>
            <a:tailEnd type="none" w="sm" len="sm"/>
          </a:ln>
        </p:spPr>
        <p:txBody>
          <a:bodyPr/>
          <a:p/>
        </p:txBody>
      </p:sp>
      <p:grpSp>
        <p:nvGrpSpPr>
          <p:cNvPr id="12" name="Group 12"/>
          <p:cNvGrpSpPr/>
          <p:nvPr/>
        </p:nvGrpSpPr>
        <p:grpSpPr>
          <a:xfrm rot="0">
            <a:off x="7702550" y="2164715"/>
            <a:ext cx="2857500" cy="1143000"/>
            <a:chOff x="0" y="0"/>
            <a:chExt cx="3810000" cy="1524000"/>
          </a:xfrm>
        </p:grpSpPr>
        <p:sp>
          <p:nvSpPr>
            <p:cNvPr id="13" name="Freeform 13"/>
            <p:cNvSpPr/>
            <p:nvPr/>
          </p:nvSpPr>
          <p:spPr>
            <a:xfrm>
              <a:off x="0" y="0"/>
              <a:ext cx="3810000" cy="1524000"/>
            </a:xfrm>
            <a:custGeom>
              <a:avLst/>
              <a:gdLst/>
              <a:ahLst/>
              <a:cxnLst/>
              <a:rect l="l" t="t" r="r" b="b"/>
              <a:pathLst>
                <a:path w="3810000" h="1524000">
                  <a:moveTo>
                    <a:pt x="59267" y="0"/>
                  </a:moveTo>
                  <a:lnTo>
                    <a:pt x="3750733" y="0"/>
                  </a:lnTo>
                  <a:cubicBezTo>
                    <a:pt x="3783466" y="0"/>
                    <a:pt x="3810000" y="26535"/>
                    <a:pt x="3810000" y="59267"/>
                  </a:cubicBezTo>
                  <a:lnTo>
                    <a:pt x="3810000" y="1464733"/>
                  </a:lnTo>
                  <a:cubicBezTo>
                    <a:pt x="3810000" y="1497465"/>
                    <a:pt x="3783466" y="1524000"/>
                    <a:pt x="3750733" y="1524000"/>
                  </a:cubicBezTo>
                  <a:lnTo>
                    <a:pt x="59267" y="1524000"/>
                  </a:lnTo>
                  <a:cubicBezTo>
                    <a:pt x="26535" y="1524000"/>
                    <a:pt x="0" y="1497465"/>
                    <a:pt x="0" y="1464733"/>
                  </a:cubicBezTo>
                  <a:lnTo>
                    <a:pt x="0" y="59267"/>
                  </a:lnTo>
                  <a:cubicBezTo>
                    <a:pt x="0" y="26535"/>
                    <a:pt x="26535" y="0"/>
                    <a:pt x="59267" y="0"/>
                  </a:cubicBezTo>
                  <a:close/>
                </a:path>
              </a:pathLst>
            </a:custGeom>
            <a:solidFill>
              <a:srgbClr val="FFFFFF"/>
            </a:solidFill>
            <a:ln w="19050" cap="sq">
              <a:solidFill>
                <a:srgbClr val="D9D5CF"/>
              </a:solidFill>
              <a:prstDash val="solid"/>
              <a:miter/>
            </a:ln>
          </p:spPr>
        </p:sp>
        <p:sp>
          <p:nvSpPr>
            <p:cNvPr id="14" name="TextBox 14"/>
            <p:cNvSpPr txBox="1"/>
            <p:nvPr/>
          </p:nvSpPr>
          <p:spPr>
            <a:xfrm>
              <a:off x="0" y="19050"/>
              <a:ext cx="3810000" cy="1504950"/>
            </a:xfrm>
            <a:prstGeom prst="rect">
              <a:avLst/>
            </a:prstGeom>
          </p:spPr>
          <p:txBody>
            <a:bodyPr lIns="50800" tIns="50800" rIns="50800" bIns="50800" rtlCol="0" anchor="ctr"/>
            <a:lstStyle/>
            <a:p>
              <a:pPr algn="ctr">
                <a:lnSpc>
                  <a:spcPts val="2070"/>
                </a:lnSpc>
              </a:pPr>
              <a:r>
                <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rPr>
                <a:t>CẬN LÂM SÀNG</a:t>
              </a:r>
              <a:endPar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grpSp>
      <p:sp>
        <p:nvSpPr>
          <p:cNvPr id="15" name="AutoShape 15"/>
          <p:cNvSpPr/>
          <p:nvPr/>
        </p:nvSpPr>
        <p:spPr>
          <a:xfrm>
            <a:off x="10562590" y="2743200"/>
            <a:ext cx="476250" cy="0"/>
          </a:xfrm>
          <a:prstGeom prst="line">
            <a:avLst/>
          </a:prstGeom>
          <a:ln w="28575" cap="flat">
            <a:solidFill>
              <a:srgbClr val="A61E2D"/>
            </a:solidFill>
            <a:prstDash val="solid"/>
            <a:headEnd type="none" w="sm" len="sm"/>
            <a:tailEnd type="none" w="sm" len="sm"/>
          </a:ln>
        </p:spPr>
        <p:txBody>
          <a:bodyPr/>
          <a:p/>
        </p:txBody>
      </p:sp>
      <p:grpSp>
        <p:nvGrpSpPr>
          <p:cNvPr id="16" name="Group 16"/>
          <p:cNvGrpSpPr/>
          <p:nvPr/>
        </p:nvGrpSpPr>
        <p:grpSpPr>
          <a:xfrm rot="0">
            <a:off x="11049000" y="2164080"/>
            <a:ext cx="2857500" cy="1143000"/>
            <a:chOff x="0" y="0"/>
            <a:chExt cx="3810000" cy="1524000"/>
          </a:xfrm>
        </p:grpSpPr>
        <p:sp>
          <p:nvSpPr>
            <p:cNvPr id="17" name="Freeform 17"/>
            <p:cNvSpPr/>
            <p:nvPr/>
          </p:nvSpPr>
          <p:spPr>
            <a:xfrm>
              <a:off x="0" y="0"/>
              <a:ext cx="3810000" cy="1524000"/>
            </a:xfrm>
            <a:custGeom>
              <a:avLst/>
              <a:gdLst/>
              <a:ahLst/>
              <a:cxnLst/>
              <a:rect l="l" t="t" r="r" b="b"/>
              <a:pathLst>
                <a:path w="3810000" h="1524000">
                  <a:moveTo>
                    <a:pt x="59267" y="0"/>
                  </a:moveTo>
                  <a:lnTo>
                    <a:pt x="3750733" y="0"/>
                  </a:lnTo>
                  <a:cubicBezTo>
                    <a:pt x="3783466" y="0"/>
                    <a:pt x="3810000" y="26535"/>
                    <a:pt x="3810000" y="59267"/>
                  </a:cubicBezTo>
                  <a:lnTo>
                    <a:pt x="3810000" y="1464733"/>
                  </a:lnTo>
                  <a:cubicBezTo>
                    <a:pt x="3810000" y="1497465"/>
                    <a:pt x="3783466" y="1524000"/>
                    <a:pt x="3750733" y="1524000"/>
                  </a:cubicBezTo>
                  <a:lnTo>
                    <a:pt x="59267" y="1524000"/>
                  </a:lnTo>
                  <a:cubicBezTo>
                    <a:pt x="26535" y="1524000"/>
                    <a:pt x="0" y="1497465"/>
                    <a:pt x="0" y="1464733"/>
                  </a:cubicBezTo>
                  <a:lnTo>
                    <a:pt x="0" y="59267"/>
                  </a:lnTo>
                  <a:cubicBezTo>
                    <a:pt x="0" y="26535"/>
                    <a:pt x="26535" y="0"/>
                    <a:pt x="59267" y="0"/>
                  </a:cubicBezTo>
                  <a:close/>
                </a:path>
              </a:pathLst>
            </a:custGeom>
            <a:solidFill>
              <a:srgbClr val="FFFFFF"/>
            </a:solidFill>
            <a:ln w="19050" cap="sq">
              <a:solidFill>
                <a:srgbClr val="D9D5CF"/>
              </a:solidFill>
              <a:prstDash val="solid"/>
              <a:miter/>
            </a:ln>
          </p:spPr>
        </p:sp>
        <p:sp>
          <p:nvSpPr>
            <p:cNvPr id="18" name="TextBox 18"/>
            <p:cNvSpPr txBox="1"/>
            <p:nvPr/>
          </p:nvSpPr>
          <p:spPr>
            <a:xfrm>
              <a:off x="0" y="19050"/>
              <a:ext cx="3810000" cy="1504950"/>
            </a:xfrm>
            <a:prstGeom prst="rect">
              <a:avLst/>
            </a:prstGeom>
          </p:spPr>
          <p:txBody>
            <a:bodyPr lIns="50800" tIns="50800" rIns="50800" bIns="50800" rtlCol="0" anchor="ctr"/>
            <a:lstStyle/>
            <a:p>
              <a:pPr algn="ctr">
                <a:lnSpc>
                  <a:spcPts val="2070"/>
                </a:lnSpc>
              </a:pPr>
              <a:r>
                <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rPr>
                <a:t>KẾT LUẬN · KÊ ĐƠN</a:t>
              </a:r>
              <a:endPar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grpSp>
      <p:sp>
        <p:nvSpPr>
          <p:cNvPr id="19" name="AutoShape 19"/>
          <p:cNvSpPr/>
          <p:nvPr/>
        </p:nvSpPr>
        <p:spPr>
          <a:xfrm>
            <a:off x="13916660" y="2743200"/>
            <a:ext cx="476250" cy="0"/>
          </a:xfrm>
          <a:prstGeom prst="line">
            <a:avLst/>
          </a:prstGeom>
          <a:ln w="28575" cap="flat">
            <a:solidFill>
              <a:srgbClr val="A61E2D"/>
            </a:solidFill>
            <a:prstDash val="solid"/>
            <a:headEnd type="none" w="sm" len="sm"/>
            <a:tailEnd type="none" w="sm" len="sm"/>
          </a:ln>
        </p:spPr>
        <p:txBody>
          <a:bodyPr/>
          <a:p/>
        </p:txBody>
      </p:sp>
      <p:grpSp>
        <p:nvGrpSpPr>
          <p:cNvPr id="20" name="Group 20"/>
          <p:cNvGrpSpPr/>
          <p:nvPr/>
        </p:nvGrpSpPr>
        <p:grpSpPr>
          <a:xfrm rot="0">
            <a:off x="14401800" y="2163445"/>
            <a:ext cx="2857500" cy="1143000"/>
            <a:chOff x="0" y="0"/>
            <a:chExt cx="3810000" cy="1524000"/>
          </a:xfrm>
        </p:grpSpPr>
        <p:sp>
          <p:nvSpPr>
            <p:cNvPr id="21" name="Freeform 21"/>
            <p:cNvSpPr/>
            <p:nvPr/>
          </p:nvSpPr>
          <p:spPr>
            <a:xfrm>
              <a:off x="0" y="0"/>
              <a:ext cx="3810000" cy="1524000"/>
            </a:xfrm>
            <a:custGeom>
              <a:avLst/>
              <a:gdLst/>
              <a:ahLst/>
              <a:cxnLst/>
              <a:rect l="l" t="t" r="r" b="b"/>
              <a:pathLst>
                <a:path w="3810000" h="1524000">
                  <a:moveTo>
                    <a:pt x="59267" y="0"/>
                  </a:moveTo>
                  <a:lnTo>
                    <a:pt x="3750733" y="0"/>
                  </a:lnTo>
                  <a:cubicBezTo>
                    <a:pt x="3783466" y="0"/>
                    <a:pt x="3810000" y="26535"/>
                    <a:pt x="3810000" y="59267"/>
                  </a:cubicBezTo>
                  <a:lnTo>
                    <a:pt x="3810000" y="1464733"/>
                  </a:lnTo>
                  <a:cubicBezTo>
                    <a:pt x="3810000" y="1497465"/>
                    <a:pt x="3783466" y="1524000"/>
                    <a:pt x="3750733" y="1524000"/>
                  </a:cubicBezTo>
                  <a:lnTo>
                    <a:pt x="59267" y="1524000"/>
                  </a:lnTo>
                  <a:cubicBezTo>
                    <a:pt x="26535" y="1524000"/>
                    <a:pt x="0" y="1497465"/>
                    <a:pt x="0" y="1464733"/>
                  </a:cubicBezTo>
                  <a:lnTo>
                    <a:pt x="0" y="59267"/>
                  </a:lnTo>
                  <a:cubicBezTo>
                    <a:pt x="0" y="26535"/>
                    <a:pt x="26535" y="0"/>
                    <a:pt x="59267" y="0"/>
                  </a:cubicBezTo>
                  <a:close/>
                </a:path>
              </a:pathLst>
            </a:custGeom>
            <a:solidFill>
              <a:srgbClr val="FFFFFF"/>
            </a:solidFill>
            <a:ln w="19050" cap="sq">
              <a:solidFill>
                <a:srgbClr val="D9D5CF"/>
              </a:solidFill>
              <a:prstDash val="solid"/>
              <a:miter/>
            </a:ln>
          </p:spPr>
        </p:sp>
        <p:sp>
          <p:nvSpPr>
            <p:cNvPr id="22" name="TextBox 22"/>
            <p:cNvSpPr txBox="1"/>
            <p:nvPr/>
          </p:nvSpPr>
          <p:spPr>
            <a:xfrm>
              <a:off x="0" y="19050"/>
              <a:ext cx="3810000" cy="1504950"/>
            </a:xfrm>
            <a:prstGeom prst="rect">
              <a:avLst/>
            </a:prstGeom>
          </p:spPr>
          <p:txBody>
            <a:bodyPr lIns="50800" tIns="50800" rIns="50800" bIns="50800" rtlCol="0" anchor="ctr"/>
            <a:lstStyle/>
            <a:p>
              <a:pPr algn="ctr">
                <a:lnSpc>
                  <a:spcPts val="2070"/>
                </a:lnSpc>
              </a:pPr>
              <a:r>
                <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rPr>
                <a:t>THANH TOÁN · NHẬN THUỐC</a:t>
              </a:r>
              <a:endParaRPr lang="en-US" sz="1800" b="1">
                <a:solidFill>
                  <a:srgbClr val="20252B"/>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grpSp>
      <p:sp>
        <p:nvSpPr>
          <p:cNvPr id="23" name="TextBox 23"/>
          <p:cNvSpPr txBox="1"/>
          <p:nvPr/>
        </p:nvSpPr>
        <p:spPr>
          <a:xfrm>
            <a:off x="1238250" y="4305300"/>
            <a:ext cx="2857500" cy="544068"/>
          </a:xfrm>
          <a:prstGeom prst="rect">
            <a:avLst/>
          </a:prstGeom>
        </p:spPr>
        <p:txBody>
          <a:bodyPr lIns="0" tIns="0" rIns="0" bIns="0" rtlCol="0" anchor="t">
            <a:spAutoFit/>
          </a:bodyPr>
          <a:lstStyle/>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PHÂN QUYỀN</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THEO VAI TRÒ</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24" name="TextBox 24"/>
          <p:cNvSpPr txBox="1"/>
          <p:nvPr/>
        </p:nvSpPr>
        <p:spPr>
          <a:xfrm>
            <a:off x="4343400" y="4265930"/>
            <a:ext cx="2857500" cy="544068"/>
          </a:xfrm>
          <a:prstGeom prst="rect">
            <a:avLst/>
          </a:prstGeom>
        </p:spPr>
        <p:txBody>
          <a:bodyPr lIns="0" tIns="0" rIns="0" bIns="0" rtlCol="0" anchor="t">
            <a:spAutoFit/>
          </a:bodyPr>
          <a:lstStyle/>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ICD-10</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CHUẨN HÓA</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25" name="TextBox 25"/>
          <p:cNvSpPr txBox="1"/>
          <p:nvPr/>
        </p:nvSpPr>
        <p:spPr>
          <a:xfrm>
            <a:off x="7696200" y="4307840"/>
            <a:ext cx="2857500" cy="544068"/>
          </a:xfrm>
          <a:prstGeom prst="rect">
            <a:avLst/>
          </a:prstGeom>
        </p:spPr>
        <p:txBody>
          <a:bodyPr lIns="0" tIns="0" rIns="0" bIns="0" rtlCol="0" anchor="t">
            <a:spAutoFit/>
          </a:bodyPr>
          <a:lstStyle/>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CẢNH BÁO THUỐC</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&amp; LIỀU TỐI ĐA</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26" name="TextBox 26"/>
          <p:cNvSpPr txBox="1"/>
          <p:nvPr/>
        </p:nvSpPr>
        <p:spPr>
          <a:xfrm>
            <a:off x="11049000" y="4295140"/>
            <a:ext cx="2857500" cy="544068"/>
          </a:xfrm>
          <a:prstGeom prst="rect">
            <a:avLst/>
          </a:prstGeom>
        </p:spPr>
        <p:txBody>
          <a:bodyPr lIns="0" tIns="0" rIns="0" bIns="0" rtlCol="0" anchor="t">
            <a:spAutoFit/>
          </a:bodyPr>
          <a:lstStyle/>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FEFO</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CẢNH BÁO &lt; 60 NGÀY</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27" name="TextBox 27"/>
          <p:cNvSpPr txBox="1"/>
          <p:nvPr/>
        </p:nvSpPr>
        <p:spPr>
          <a:xfrm>
            <a:off x="14401800" y="4281805"/>
            <a:ext cx="2855595" cy="539750"/>
          </a:xfrm>
          <a:prstGeom prst="rect">
            <a:avLst/>
          </a:prstGeom>
        </p:spPr>
        <p:txBody>
          <a:bodyPr wrap="square" lIns="0" tIns="0" rIns="0" bIns="0" rtlCol="0" anchor="t">
            <a:spAutoFit/>
          </a:bodyPr>
          <a:lstStyle/>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HÓA ĐƠN DUY NHẤT</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a:p>
            <a:pPr algn="ctr">
              <a:lnSpc>
                <a:spcPts val="2105"/>
              </a:lnSpc>
            </a:pPr>
            <a:r>
              <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PHÊ DUYỆT &amp; LOG</a:t>
            </a:r>
            <a:endParaRPr lang="en-US" sz="195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grpSp>
        <p:nvGrpSpPr>
          <p:cNvPr id="28" name="Group 28"/>
          <p:cNvGrpSpPr/>
          <p:nvPr/>
        </p:nvGrpSpPr>
        <p:grpSpPr>
          <a:xfrm rot="0">
            <a:off x="1047750" y="4029075"/>
            <a:ext cx="16192500" cy="76200"/>
            <a:chOff x="0" y="0"/>
            <a:chExt cx="21590000" cy="101600"/>
          </a:xfrm>
        </p:grpSpPr>
        <p:sp>
          <p:nvSpPr>
            <p:cNvPr id="29" name="Freeform 29"/>
            <p:cNvSpPr/>
            <p:nvPr/>
          </p:nvSpPr>
          <p:spPr>
            <a:xfrm>
              <a:off x="0" y="0"/>
              <a:ext cx="21590000" cy="101600"/>
            </a:xfrm>
            <a:custGeom>
              <a:avLst/>
              <a:gdLst/>
              <a:ahLst/>
              <a:cxnLst/>
              <a:rect l="l" t="t" r="r" b="b"/>
              <a:pathLst>
                <a:path w="21590000" h="101600">
                  <a:moveTo>
                    <a:pt x="0" y="0"/>
                  </a:moveTo>
                  <a:lnTo>
                    <a:pt x="21590000" y="0"/>
                  </a:lnTo>
                  <a:lnTo>
                    <a:pt x="21590000" y="101600"/>
                  </a:lnTo>
                  <a:lnTo>
                    <a:pt x="0" y="101600"/>
                  </a:lnTo>
                  <a:close/>
                </a:path>
              </a:pathLst>
            </a:custGeom>
            <a:solidFill>
              <a:srgbClr val="A61E2D"/>
            </a:solidFill>
            <a:ln cap="sq">
              <a:noFill/>
              <a:prstDash val="solid"/>
              <a:miter/>
            </a:ln>
          </p:spPr>
        </p:sp>
        <p:sp>
          <p:nvSpPr>
            <p:cNvPr id="30" name="TextBox 30"/>
            <p:cNvSpPr txBox="1"/>
            <p:nvPr/>
          </p:nvSpPr>
          <p:spPr>
            <a:xfrm>
              <a:off x="0" y="-38100"/>
              <a:ext cx="21590000" cy="139700"/>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sp>
        <p:nvSpPr>
          <p:cNvPr id="35" name="TextBox 34"/>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Times New Roman" panose="02020603050405020304" charset="0"/>
                <a:cs typeface="Times New Roman" panose="02020603050405020304" charset="0"/>
              </a:rPr>
              <a:t>03</a:t>
            </a:r>
            <a:endParaRPr sz="900" b="1">
              <a:solidFill>
                <a:srgbClr val="111111"/>
              </a:solidFill>
              <a:latin typeface="Times New Roman" panose="02020603050405020304" charset="0"/>
              <a:cs typeface="Times New Roman" panose="02020603050405020304" charset="0"/>
            </a:endParaRPr>
          </a:p>
        </p:txBody>
      </p:sp>
      <p:sp>
        <p:nvSpPr>
          <p:cNvPr id="53" name="Rounded Rectangle 52"/>
          <p:cNvSpPr/>
          <p:nvPr/>
        </p:nvSpPr>
        <p:spPr>
          <a:xfrm>
            <a:off x="1047750" y="5370830"/>
            <a:ext cx="16443960" cy="4504055"/>
          </a:xfrm>
          <a:prstGeom prst="roundRect">
            <a:avLst/>
          </a:prstGeom>
          <a:solidFill>
            <a:srgbClr val="F2F8F9"/>
          </a:solidFill>
          <a:ln w="13970">
            <a:solidFill>
              <a:srgbClr val="1F7D87"/>
            </a:solidFill>
          </a:ln>
        </p:spPr>
        <p:style>
          <a:lnRef idx="1">
            <a:schemeClr val="accent1"/>
          </a:lnRef>
          <a:fillRef idx="3">
            <a:schemeClr val="accent1"/>
          </a:fillRef>
          <a:effectRef idx="2">
            <a:schemeClr val="accent1"/>
          </a:effectRef>
          <a:fontRef idx="minor">
            <a:schemeClr val="lt1"/>
          </a:fontRef>
        </p:style>
        <p:txBody>
          <a:bodyPr wrap="square" lIns="182880" tIns="109728" rIns="182880" bIns="91440" rtlCol="0" anchor="t">
            <a:noAutofit/>
          </a:bodyPr>
          <a:lstStyle/>
          <a:p>
            <a:pPr algn="l">
              <a:lnSpc>
                <a:spcPct val="100000"/>
              </a:lnSpc>
              <a:spcBef>
                <a:spcPts val="0"/>
              </a:spcBef>
              <a:spcAft>
                <a:spcPts val="400"/>
              </a:spcAft>
              <a:defRPr sz="1500" b="1">
                <a:solidFill>
                  <a:srgbClr val="183752"/>
                </a:solidFill>
                <a:latin typeface="Aptos Display"/>
              </a:defRPr>
            </a:pPr>
            <a:endParaRPr sz="1800" b="0">
              <a:solidFill>
                <a:srgbClr val="262D37"/>
              </a:solidFill>
              <a:latin typeface="Times New Roman" panose="02020603050405020304" charset="0"/>
              <a:cs typeface="Times New Roman" panose="02020603050405020304" charset="0"/>
            </a:endParaRPr>
          </a:p>
        </p:txBody>
      </p:sp>
      <p:sp>
        <p:nvSpPr>
          <p:cNvPr id="32" name="Rectangle 31"/>
          <p:cNvSpPr/>
          <p:nvPr/>
        </p:nvSpPr>
        <p:spPr>
          <a:xfrm>
            <a:off x="805180" y="5715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33" name="Text Box 32"/>
          <p:cNvSpPr txBox="1"/>
          <p:nvPr/>
        </p:nvSpPr>
        <p:spPr>
          <a:xfrm>
            <a:off x="1399540" y="5524500"/>
            <a:ext cx="15756890" cy="4092575"/>
          </a:xfrm>
          <a:prstGeom prst="rect">
            <a:avLst/>
          </a:prstGeom>
          <a:noFill/>
        </p:spPr>
        <p:txBody>
          <a:bodyPr wrap="square" rtlCol="0">
            <a:spAutoFit/>
          </a:bodyPr>
          <a:p>
            <a:pPr algn="l">
              <a:lnSpc>
                <a:spcPct val="100000"/>
              </a:lnSpc>
              <a:spcBef>
                <a:spcPts val="0"/>
              </a:spcBef>
              <a:spcAft>
                <a:spcPts val="400"/>
              </a:spcAft>
              <a:defRPr sz="1500" b="1">
                <a:solidFill>
                  <a:srgbClr val="183752"/>
                </a:solidFill>
                <a:latin typeface="Aptos Display"/>
              </a:defRPr>
            </a:pPr>
            <a:r>
              <a:rPr sz="2400" b="1">
                <a:solidFill>
                  <a:srgbClr val="262D37"/>
                </a:solidFill>
                <a:latin typeface="Times New Roman" panose="02020603050405020304" charset="0"/>
                <a:cs typeface="Times New Roman" panose="02020603050405020304" charset="0"/>
                <a:sym typeface="+mn-ea"/>
              </a:rPr>
              <a:t>QUY TRÌNH NGHIỆP VỤ CHI TIẾT</a:t>
            </a:r>
            <a:endParaRPr sz="2400" b="1">
              <a:solidFill>
                <a:srgbClr val="262D37"/>
              </a:solidFill>
              <a:latin typeface="Times New Roman" panose="02020603050405020304" charset="0"/>
              <a:cs typeface="Times New Roman" panose="02020603050405020304" charset="0"/>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1. </a:t>
            </a:r>
            <a:r>
              <a:rPr lang="en-US" altLang="en-US" sz="2400">
                <a:solidFill>
                  <a:srgbClr val="262D37"/>
                </a:solidFill>
                <a:latin typeface="Times New Roman" panose="02020603050405020304" charset="0"/>
                <a:cs typeface="Times New Roman" panose="02020603050405020304" charset="0"/>
                <a:sym typeface="+mn-ea"/>
              </a:rPr>
              <a:t>Tiếp nhận: Ghi nhận hồ sơ, kiểm tra lịch hẹn, phân luồng chuyên khoa và cấp số thứ tự</a:t>
            </a:r>
            <a:endParaRPr lang="en-US" altLang="en-US"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2. </a:t>
            </a:r>
            <a:r>
              <a:rPr lang="en-US" altLang="en-US" sz="2400">
                <a:solidFill>
                  <a:srgbClr val="262D37"/>
                </a:solidFill>
                <a:latin typeface="Times New Roman" panose="02020603050405020304" charset="0"/>
                <a:cs typeface="Times New Roman" panose="02020603050405020304" charset="0"/>
                <a:sym typeface="+mn-ea"/>
              </a:rPr>
              <a:t>Khám ban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ầu: Bác s</a:t>
            </a:r>
            <a:r>
              <a:rPr lang="en-US" altLang="en-US" sz="2400">
                <a:solidFill>
                  <a:srgbClr val="262D37"/>
                </a:solidFill>
                <a:latin typeface="Times New Roman" panose="02020603050405020304" charset="0"/>
                <a:cs typeface="Times New Roman" panose="02020603050405020304" charset="0"/>
                <a:sym typeface="+mn-ea"/>
              </a:rPr>
              <a:t>ĩ </a:t>
            </a:r>
            <a:r>
              <a:rPr lang="en-US" altLang="en-US" sz="2400">
                <a:solidFill>
                  <a:srgbClr val="262D37"/>
                </a:solidFill>
                <a:latin typeface="Times New Roman" panose="02020603050405020304" charset="0"/>
                <a:cs typeface="Times New Roman" panose="02020603050405020304" charset="0"/>
                <a:sym typeface="+mn-ea"/>
              </a:rPr>
              <a:t>khám lâm sàng,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ánh giá tình trạng và chỉ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ịnh cận lâm sàng (CLS) nếu cần</a:t>
            </a:r>
            <a:endParaRPr lang="en-US" altLang="en-US"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3. </a:t>
            </a:r>
            <a:r>
              <a:rPr lang="en-US" altLang="en-US" sz="2400">
                <a:solidFill>
                  <a:srgbClr val="262D37"/>
                </a:solidFill>
                <a:latin typeface="Times New Roman" panose="02020603050405020304" charset="0"/>
                <a:cs typeface="Times New Roman" panose="02020603050405020304" charset="0"/>
                <a:sym typeface="+mn-ea"/>
              </a:rPr>
              <a:t>Cận lâm sàng: Bệnh nhân thanh toán phí tr</a:t>
            </a:r>
            <a:r>
              <a:rPr lang="en-US" altLang="en-US" sz="2400">
                <a:solidFill>
                  <a:srgbClr val="262D37"/>
                </a:solidFill>
                <a:latin typeface="Times New Roman" panose="02020603050405020304" charset="0"/>
                <a:cs typeface="Times New Roman" panose="02020603050405020304" charset="0"/>
                <a:sym typeface="+mn-ea"/>
              </a:rPr>
              <a:t>ư</a:t>
            </a:r>
            <a:r>
              <a:rPr lang="en-US" altLang="en-US" sz="2400">
                <a:solidFill>
                  <a:srgbClr val="262D37"/>
                </a:solidFill>
                <a:latin typeface="Times New Roman" panose="02020603050405020304" charset="0"/>
                <a:cs typeface="Times New Roman" panose="02020603050405020304" charset="0"/>
                <a:sym typeface="+mn-ea"/>
              </a:rPr>
              <a:t>ớc; kỹ thuật viên thực hiện, nhập kết quả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ể bác s</a:t>
            </a:r>
            <a:r>
              <a:rPr lang="en-US" altLang="en-US" sz="2400">
                <a:solidFill>
                  <a:srgbClr val="262D37"/>
                </a:solidFill>
                <a:latin typeface="Times New Roman" panose="02020603050405020304" charset="0"/>
                <a:cs typeface="Times New Roman" panose="02020603050405020304" charset="0"/>
                <a:sym typeface="+mn-ea"/>
              </a:rPr>
              <a:t>ĩ </a:t>
            </a:r>
            <a:r>
              <a:rPr lang="en-US" altLang="en-US" sz="2400">
                <a:solidFill>
                  <a:srgbClr val="262D37"/>
                </a:solidFill>
                <a:latin typeface="Times New Roman" panose="02020603050405020304" charset="0"/>
                <a:cs typeface="Times New Roman" panose="02020603050405020304" charset="0"/>
                <a:sym typeface="+mn-ea"/>
              </a:rPr>
              <a:t>xem trên hệ thống.</a:t>
            </a:r>
            <a:endParaRPr lang="en-US" altLang="en-US"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4. </a:t>
            </a:r>
            <a:r>
              <a:rPr lang="en-US" altLang="en-US" sz="2400">
                <a:solidFill>
                  <a:srgbClr val="262D37"/>
                </a:solidFill>
                <a:latin typeface="Times New Roman" panose="02020603050405020304" charset="0"/>
                <a:cs typeface="Times New Roman" panose="02020603050405020304" charset="0"/>
                <a:sym typeface="+mn-ea"/>
              </a:rPr>
              <a:t>Kết luận và kê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ơn: Bác s</a:t>
            </a:r>
            <a:r>
              <a:rPr lang="en-US" altLang="en-US" sz="2400">
                <a:solidFill>
                  <a:srgbClr val="262D37"/>
                </a:solidFill>
                <a:latin typeface="Times New Roman" panose="02020603050405020304" charset="0"/>
                <a:cs typeface="Times New Roman" panose="02020603050405020304" charset="0"/>
                <a:sym typeface="+mn-ea"/>
              </a:rPr>
              <a:t>ĩ </a:t>
            </a:r>
            <a:r>
              <a:rPr lang="en-US" altLang="en-US" sz="2400">
                <a:solidFill>
                  <a:srgbClr val="262D37"/>
                </a:solidFill>
                <a:latin typeface="Times New Roman" panose="02020603050405020304" charset="0"/>
                <a:cs typeface="Times New Roman" panose="02020603050405020304" charset="0"/>
                <a:sym typeface="+mn-ea"/>
              </a:rPr>
              <a:t>chẩn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oán theo ICD-10, kê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ơn </a:t>
            </a:r>
            <a:r>
              <a:rPr lang="en-US" altLang="en-US" sz="2400">
                <a:solidFill>
                  <a:srgbClr val="262D37"/>
                </a:solidFill>
                <a:latin typeface="Times New Roman" panose="02020603050405020304" charset="0"/>
                <a:cs typeface="Times New Roman" panose="02020603050405020304" charset="0"/>
                <a:sym typeface="+mn-ea"/>
              </a:rPr>
              <a:t>đ</a:t>
            </a:r>
            <a:r>
              <a:rPr lang="en-US" altLang="en-US" sz="2400">
                <a:solidFill>
                  <a:srgbClr val="262D37"/>
                </a:solidFill>
                <a:latin typeface="Times New Roman" panose="02020603050405020304" charset="0"/>
                <a:cs typeface="Times New Roman" panose="02020603050405020304" charset="0"/>
                <a:sym typeface="+mn-ea"/>
              </a:rPr>
              <a:t>iện tử, kiểm tra t</a:t>
            </a:r>
            <a:r>
              <a:rPr lang="en-US" altLang="en-US" sz="2400">
                <a:solidFill>
                  <a:srgbClr val="262D37"/>
                </a:solidFill>
                <a:latin typeface="Times New Roman" panose="02020603050405020304" charset="0"/>
                <a:cs typeface="Times New Roman" panose="02020603050405020304" charset="0"/>
                <a:sym typeface="+mn-ea"/>
              </a:rPr>
              <a:t>ư</a:t>
            </a:r>
            <a:r>
              <a:rPr lang="en-US" altLang="en-US" sz="2400">
                <a:solidFill>
                  <a:srgbClr val="262D37"/>
                </a:solidFill>
                <a:latin typeface="Times New Roman" panose="02020603050405020304" charset="0"/>
                <a:cs typeface="Times New Roman" panose="02020603050405020304" charset="0"/>
                <a:sym typeface="+mn-ea"/>
              </a:rPr>
              <a:t>ơng tác và liều thuốc, ghi lịch tái khám.</a:t>
            </a:r>
            <a:endParaRPr lang="en-US" altLang="en-US"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5. </a:t>
            </a:r>
            <a:r>
              <a:rPr lang="en-US" altLang="en-US" sz="2400">
                <a:solidFill>
                  <a:srgbClr val="262D37"/>
                </a:solidFill>
                <a:latin typeface="Times New Roman" panose="02020603050405020304" charset="0"/>
                <a:cs typeface="Times New Roman" panose="02020603050405020304" charset="0"/>
                <a:sym typeface="+mn-ea"/>
              </a:rPr>
              <a:t>Thanh toán và nhận thuốc: Bệnh nhân thanh toán; quầy d</a:t>
            </a:r>
            <a:r>
              <a:rPr lang="en-US" altLang="en-US" sz="2400">
                <a:solidFill>
                  <a:srgbClr val="262D37"/>
                </a:solidFill>
                <a:latin typeface="Times New Roman" panose="02020603050405020304" charset="0"/>
                <a:cs typeface="Times New Roman" panose="02020603050405020304" charset="0"/>
                <a:sym typeface="+mn-ea"/>
              </a:rPr>
              <a:t>ư</a:t>
            </a:r>
            <a:r>
              <a:rPr lang="en-US" altLang="en-US" sz="2400">
                <a:solidFill>
                  <a:srgbClr val="262D37"/>
                </a:solidFill>
                <a:latin typeface="Times New Roman" panose="02020603050405020304" charset="0"/>
                <a:cs typeface="Times New Roman" panose="02020603050405020304" charset="0"/>
                <a:sym typeface="+mn-ea"/>
              </a:rPr>
              <a:t>ợc xuất thuốc theo tồn kho và h</a:t>
            </a:r>
            <a:r>
              <a:rPr lang="en-US" altLang="en-US" sz="2400">
                <a:solidFill>
                  <a:srgbClr val="262D37"/>
                </a:solidFill>
                <a:latin typeface="Times New Roman" panose="02020603050405020304" charset="0"/>
                <a:cs typeface="Times New Roman" panose="02020603050405020304" charset="0"/>
                <a:sym typeface="+mn-ea"/>
              </a:rPr>
              <a:t>ư</a:t>
            </a:r>
            <a:r>
              <a:rPr lang="en-US" altLang="en-US" sz="2400">
                <a:solidFill>
                  <a:srgbClr val="262D37"/>
                </a:solidFill>
                <a:latin typeface="Times New Roman" panose="02020603050405020304" charset="0"/>
                <a:cs typeface="Times New Roman" panose="02020603050405020304" charset="0"/>
                <a:sym typeface="+mn-ea"/>
              </a:rPr>
              <a:t>ớng dẫn sử dụng.</a:t>
            </a:r>
            <a:endParaRPr lang="en-US" altLang="en-US"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b="1">
                <a:solidFill>
                  <a:srgbClr val="262D37"/>
                </a:solidFill>
                <a:latin typeface="Times New Roman" panose="02020603050405020304" charset="0"/>
                <a:cs typeface="Times New Roman" panose="02020603050405020304" charset="0"/>
                <a:sym typeface="+mn-ea"/>
              </a:rPr>
              <a:t>QUY TẮC KIỂM SOÁT XUYÊN SUỐT</a:t>
            </a:r>
            <a:endParaRPr sz="2400" b="1">
              <a:solidFill>
                <a:srgbClr val="262D37"/>
              </a:solidFill>
              <a:latin typeface="Times New Roman" panose="02020603050405020304" charset="0"/>
              <a:cs typeface="Times New Roman" panose="02020603050405020304" charset="0"/>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 Phân quyền theo vai trò; hồ sơ bệnh án chỉ được sửa trong phạm vi ca trực. </a:t>
            </a:r>
            <a:endParaRPr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 Không kê thuốc hết tồn; quản lý theo lô/hạn dùng và áp dụng FEFO, cảnh báo thuốc sắp hết hạn dưới 60 ngày. </a:t>
            </a:r>
            <a:endParaRPr sz="2400">
              <a:solidFill>
                <a:srgbClr val="262D37"/>
              </a:solidFill>
              <a:latin typeface="Times New Roman" panose="02020603050405020304" charset="0"/>
              <a:cs typeface="Times New Roman" panose="02020603050405020304" charset="0"/>
              <a:sym typeface="+mn-ea"/>
            </a:endParaRPr>
          </a:p>
          <a:p>
            <a:pPr algn="just">
              <a:lnSpc>
                <a:spcPct val="100000"/>
              </a:lnSpc>
              <a:spcBef>
                <a:spcPts val="0"/>
              </a:spcBef>
              <a:spcAft>
                <a:spcPts val="250"/>
              </a:spcAft>
            </a:pPr>
            <a:r>
              <a:rPr sz="2400">
                <a:solidFill>
                  <a:srgbClr val="262D37"/>
                </a:solidFill>
                <a:latin typeface="Times New Roman" panose="02020603050405020304" charset="0"/>
                <a:cs typeface="Times New Roman" panose="02020603050405020304" charset="0"/>
                <a:sym typeface="+mn-ea"/>
              </a:rPr>
              <a:t>• Mỗi giao dịch có hóa đơn/biên lai với mã duy nhất; hủy phiếu thu phải được Trưởng ca/Kế toán trưởng phê duyệt và lưu vết.</a:t>
            </a:r>
            <a:endParaRPr lang="en-US" sz="240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43" name="Picture 42" descr="dental_bg.png"/>
          <p:cNvPicPr>
            <a:picLocks noChangeAspect="1"/>
          </p:cNvPicPr>
          <p:nvPr/>
        </p:nvPicPr>
        <p:blipFill>
          <a:blip r:embed="rId1"/>
          <a:stretch>
            <a:fillRect/>
          </a:stretch>
        </p:blipFill>
        <p:spPr>
          <a:xfrm>
            <a:off x="0" y="0"/>
            <a:ext cx="18288000" cy="10287000"/>
          </a:xfrm>
          <a:prstGeom prst="rect">
            <a:avLst/>
          </a:prstGeom>
        </p:spPr>
      </p:pic>
      <p:sp>
        <p:nvSpPr>
          <p:cNvPr id="42" name="Oval 41"/>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2"/>
          <p:cNvSpPr txBox="1"/>
          <p:nvPr/>
        </p:nvSpPr>
        <p:spPr>
          <a:xfrm>
            <a:off x="1051560" y="647700"/>
            <a:ext cx="14287500" cy="602615"/>
          </a:xfrm>
          <a:prstGeom prst="rect">
            <a:avLst/>
          </a:prstGeom>
        </p:spPr>
        <p:txBody>
          <a:bodyPr lIns="0" tIns="0" rIns="0" bIns="0" rtlCol="0" anchor="t">
            <a:spAutoFit/>
          </a:bodyPr>
          <a:lstStyle/>
          <a:p>
            <a:pPr algn="l">
              <a:lnSpc>
                <a:spcPts val="4700"/>
              </a:lnSpc>
            </a:pPr>
            <a:r>
              <a:rPr lang="en-US" sz="480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rPr>
              <a:t>Phạm vi và quy tắc nghiệp vụ</a:t>
            </a:r>
            <a:endParaRPr lang="en-US" sz="480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3" name="TextBox 3"/>
          <p:cNvSpPr txBox="1"/>
          <p:nvPr/>
        </p:nvSpPr>
        <p:spPr>
          <a:xfrm>
            <a:off x="1047750" y="1409700"/>
            <a:ext cx="14287500" cy="323850"/>
          </a:xfrm>
          <a:prstGeom prst="rect">
            <a:avLst/>
          </a:prstGeom>
        </p:spPr>
        <p:txBody>
          <a:bodyPr lIns="0" tIns="0" rIns="0" bIns="0" rtlCol="0" anchor="t">
            <a:spAutoFit/>
          </a:bodyPr>
          <a:lstStyle/>
          <a:p>
            <a:pPr algn="l">
              <a:lnSpc>
                <a:spcPts val="2530"/>
              </a:lnSpc>
            </a:pPr>
            <a:r>
              <a:rPr lang="en-US" sz="2400">
                <a:solidFill>
                  <a:srgbClr val="111111"/>
                </a:solidFill>
                <a:latin typeface="Noto Sans" panose="020B0502040504020204"/>
                <a:ea typeface="Noto Sans" panose="020B0502040504020204"/>
                <a:cs typeface="Noto Sans" panose="020B0502040504020204"/>
                <a:sym typeface="Noto Sans" panose="020B0502040504020204"/>
              </a:rPr>
              <a:t>Bao phủ vận hành phòng khám; ưu tiên các quy tắc ảnh hưởng trực tiếp đến an toàn và doanh thu</a:t>
            </a:r>
            <a:endParaRPr lang="en-US" sz="2400">
              <a:solidFill>
                <a:srgbClr val="111111"/>
              </a:solidFill>
              <a:latin typeface="Noto Sans" panose="020B0502040504020204"/>
              <a:ea typeface="Noto Sans" panose="020B0502040504020204"/>
              <a:cs typeface="Noto Sans" panose="020B0502040504020204"/>
              <a:sym typeface="Noto Sans" panose="020B0502040504020204"/>
            </a:endParaRPr>
          </a:p>
        </p:txBody>
      </p:sp>
      <p:grpSp>
        <p:nvGrpSpPr>
          <p:cNvPr id="4" name="Group 4"/>
          <p:cNvGrpSpPr/>
          <p:nvPr/>
        </p:nvGrpSpPr>
        <p:grpSpPr>
          <a:xfrm rot="0">
            <a:off x="1047750" y="2286000"/>
            <a:ext cx="7524750" cy="5674360"/>
            <a:chOff x="0" y="0"/>
            <a:chExt cx="10033000" cy="9017000"/>
          </a:xfrm>
        </p:grpSpPr>
        <p:sp>
          <p:nvSpPr>
            <p:cNvPr id="5" name="Freeform 5"/>
            <p:cNvSpPr/>
            <p:nvPr/>
          </p:nvSpPr>
          <p:spPr>
            <a:xfrm>
              <a:off x="0" y="0"/>
              <a:ext cx="10033000" cy="9017000"/>
            </a:xfrm>
            <a:custGeom>
              <a:avLst/>
              <a:gdLst/>
              <a:ahLst/>
              <a:cxnLst/>
              <a:rect l="l" t="t" r="r" b="b"/>
              <a:pathLst>
                <a:path w="10033000" h="9017000">
                  <a:moveTo>
                    <a:pt x="0" y="0"/>
                  </a:moveTo>
                  <a:lnTo>
                    <a:pt x="10033000" y="0"/>
                  </a:lnTo>
                  <a:lnTo>
                    <a:pt x="10033000" y="9017000"/>
                  </a:lnTo>
                  <a:lnTo>
                    <a:pt x="0" y="9017000"/>
                  </a:lnTo>
                  <a:close/>
                </a:path>
              </a:pathLst>
            </a:custGeom>
            <a:solidFill>
              <a:srgbClr val="FFFFFF"/>
            </a:solidFill>
            <a:ln w="9525" cap="sq">
              <a:solidFill>
                <a:srgbClr val="D9D5CF"/>
              </a:solidFill>
              <a:prstDash val="solid"/>
              <a:miter/>
            </a:ln>
          </p:spPr>
        </p:sp>
        <p:sp>
          <p:nvSpPr>
            <p:cNvPr id="6" name="TextBox 6"/>
            <p:cNvSpPr txBox="1"/>
            <p:nvPr/>
          </p:nvSpPr>
          <p:spPr>
            <a:xfrm>
              <a:off x="0" y="-38100"/>
              <a:ext cx="10033000" cy="9055100"/>
            </a:xfrm>
            <a:prstGeom prst="rect">
              <a:avLst/>
            </a:prstGeom>
          </p:spPr>
          <p:txBody>
            <a:bodyPr lIns="50800" tIns="50800" rIns="50800" bIns="50800" rtlCol="0" anchor="ctr"/>
            <a:lstStyle/>
            <a:p>
              <a:pPr algn="l">
                <a:lnSpc>
                  <a:spcPts val="1680"/>
                </a:lnSpc>
              </a:pPr>
            </a:p>
          </p:txBody>
        </p:sp>
      </p:grpSp>
      <p:grpSp>
        <p:nvGrpSpPr>
          <p:cNvPr id="7" name="Group 7"/>
          <p:cNvGrpSpPr/>
          <p:nvPr/>
        </p:nvGrpSpPr>
        <p:grpSpPr>
          <a:xfrm rot="0">
            <a:off x="9239250" y="2286000"/>
            <a:ext cx="8001000" cy="5673725"/>
            <a:chOff x="0" y="0"/>
            <a:chExt cx="10668000" cy="9017000"/>
          </a:xfrm>
        </p:grpSpPr>
        <p:sp>
          <p:nvSpPr>
            <p:cNvPr id="8" name="Freeform 8"/>
            <p:cNvSpPr/>
            <p:nvPr/>
          </p:nvSpPr>
          <p:spPr>
            <a:xfrm>
              <a:off x="0" y="0"/>
              <a:ext cx="10668000" cy="9017000"/>
            </a:xfrm>
            <a:custGeom>
              <a:avLst/>
              <a:gdLst/>
              <a:ahLst/>
              <a:cxnLst/>
              <a:rect l="l" t="t" r="r" b="b"/>
              <a:pathLst>
                <a:path w="10668000" h="9017000">
                  <a:moveTo>
                    <a:pt x="0" y="0"/>
                  </a:moveTo>
                  <a:lnTo>
                    <a:pt x="10668000" y="0"/>
                  </a:lnTo>
                  <a:lnTo>
                    <a:pt x="10668000" y="9017000"/>
                  </a:lnTo>
                  <a:lnTo>
                    <a:pt x="0" y="9017000"/>
                  </a:lnTo>
                  <a:close/>
                </a:path>
              </a:pathLst>
            </a:custGeom>
            <a:solidFill>
              <a:srgbClr val="F1E5E6"/>
            </a:solidFill>
            <a:ln w="9525" cap="sq">
              <a:solidFill>
                <a:srgbClr val="EAD7D9"/>
              </a:solidFill>
              <a:prstDash val="solid"/>
              <a:miter/>
            </a:ln>
          </p:spPr>
        </p:sp>
        <p:sp>
          <p:nvSpPr>
            <p:cNvPr id="9" name="TextBox 9"/>
            <p:cNvSpPr txBox="1"/>
            <p:nvPr/>
          </p:nvSpPr>
          <p:spPr>
            <a:xfrm>
              <a:off x="0" y="-38100"/>
              <a:ext cx="10668000" cy="9055100"/>
            </a:xfrm>
            <a:prstGeom prst="rect">
              <a:avLst/>
            </a:prstGeom>
          </p:spPr>
          <p:txBody>
            <a:bodyPr lIns="50800" tIns="50800" rIns="50800" bIns="50800" rtlCol="0" anchor="ctr"/>
            <a:lstStyle/>
            <a:p>
              <a:pPr algn="l">
                <a:lnSpc>
                  <a:spcPts val="1680"/>
                </a:lnSpc>
              </a:pPr>
            </a:p>
          </p:txBody>
        </p:sp>
      </p:grpSp>
      <p:sp>
        <p:nvSpPr>
          <p:cNvPr id="10" name="TextBox 10"/>
          <p:cNvSpPr txBox="1"/>
          <p:nvPr/>
        </p:nvSpPr>
        <p:spPr>
          <a:xfrm>
            <a:off x="1428750" y="2495550"/>
            <a:ext cx="5715000" cy="322580"/>
          </a:xfrm>
          <a:prstGeom prst="rect">
            <a:avLst/>
          </a:prstGeom>
        </p:spPr>
        <p:txBody>
          <a:bodyPr lIns="0" tIns="0" rIns="0" bIns="0" rtlCol="0" anchor="t">
            <a:spAutoFit/>
          </a:bodyPr>
          <a:lstStyle/>
          <a:p>
            <a:pPr algn="l">
              <a:lnSpc>
                <a:spcPts val="2520"/>
              </a:lnSpc>
            </a:pPr>
            <a:r>
              <a:rPr lang="en-US" sz="2400" b="1">
                <a:solidFill>
                  <a:srgbClr val="A61E2D"/>
                </a:solidFill>
                <a:latin typeface="Times New Roman" panose="02020603050405020304" charset="0"/>
                <a:ea typeface="Noto Sans Bold" panose="020B0802040504020204"/>
                <a:cs typeface="Times New Roman" panose="02020603050405020304" charset="0"/>
                <a:sym typeface="Noto Sans Bold" panose="020B0802040504020204"/>
              </a:rPr>
              <a:t>PHẠM VI HỆ THỐNG</a:t>
            </a:r>
            <a:endParaRPr lang="en-US" sz="2400" b="1">
              <a:solidFill>
                <a:srgbClr val="A61E2D"/>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sp>
        <p:nvSpPr>
          <p:cNvPr id="11" name="TextBox 11"/>
          <p:cNvSpPr txBox="1"/>
          <p:nvPr/>
        </p:nvSpPr>
        <p:spPr>
          <a:xfrm>
            <a:off x="9810750" y="2495550"/>
            <a:ext cx="5715000" cy="322580"/>
          </a:xfrm>
          <a:prstGeom prst="rect">
            <a:avLst/>
          </a:prstGeom>
        </p:spPr>
        <p:txBody>
          <a:bodyPr lIns="0" tIns="0" rIns="0" bIns="0" rtlCol="0" anchor="t">
            <a:spAutoFit/>
          </a:bodyPr>
          <a:lstStyle/>
          <a:p>
            <a:pPr algn="l">
              <a:lnSpc>
                <a:spcPts val="2520"/>
              </a:lnSpc>
            </a:pPr>
            <a:r>
              <a:rPr lang="en-US" sz="2400" b="1">
                <a:solidFill>
                  <a:srgbClr val="A61E2D"/>
                </a:solidFill>
                <a:latin typeface="Times New Roman" panose="02020603050405020304" charset="0"/>
                <a:ea typeface="Noto Sans Bold" panose="020B0802040504020204"/>
                <a:cs typeface="Times New Roman" panose="02020603050405020304" charset="0"/>
                <a:sym typeface="Noto Sans Bold" panose="020B0802040504020204"/>
              </a:rPr>
              <a:t>QUY TẮC ƯU TIÊN</a:t>
            </a:r>
            <a:endParaRPr lang="en-US" sz="2400" b="1">
              <a:solidFill>
                <a:srgbClr val="A61E2D"/>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sp>
        <p:nvSpPr>
          <p:cNvPr id="16" name="TextBox 16"/>
          <p:cNvSpPr txBox="1"/>
          <p:nvPr/>
        </p:nvSpPr>
        <p:spPr>
          <a:xfrm>
            <a:off x="1428750" y="3009900"/>
            <a:ext cx="6477000" cy="3156585"/>
          </a:xfrm>
          <a:prstGeom prst="rect">
            <a:avLst/>
          </a:prstGeom>
        </p:spPr>
        <p:txBody>
          <a:bodyPr wrap="square" lIns="0" tIns="0" rIns="0" bIns="0" rtlCol="0" anchor="t">
            <a:spAutoFit/>
          </a:bodyPr>
          <a:lstStyle/>
          <a:p>
            <a:pPr algn="just">
              <a:lnSpc>
                <a:spcPts val="2735"/>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Bệnh nhân: Hồ sơ, 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ặt/đ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ổi/hủy lịch, tái khám.</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735"/>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Tiếp nhận: Phân luồng, cấp số,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điều phối phòng và bác s</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ĩ.</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735"/>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Khám chữa bệnh: Chẩn 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oán, chỉ 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ịnh CLS, kê 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ơn, kết quả 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iều trị.</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735"/>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Dịch vụ &amp; kho: Bảng giá, thuốc, vật tư,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hạn sử dụng.</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735"/>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Tài chính: Thanh toán, hóa đ</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ơn, hoàn tiền, báo cáo.</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735"/>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Quản trị: Tài khoản, phân quyền, nhật ký,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sao lư</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u.</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p:txBody>
      </p:sp>
      <p:sp>
        <p:nvSpPr>
          <p:cNvPr id="21" name="TextBox 21"/>
          <p:cNvSpPr txBox="1"/>
          <p:nvPr/>
        </p:nvSpPr>
        <p:spPr>
          <a:xfrm>
            <a:off x="9677400" y="2948940"/>
            <a:ext cx="6858000" cy="3893185"/>
          </a:xfrm>
          <a:prstGeom prst="rect">
            <a:avLst/>
          </a:prstGeom>
        </p:spPr>
        <p:txBody>
          <a:bodyPr wrap="square" lIns="0" tIns="0" rIns="0" bIns="0" rtlCol="0" anchor="t">
            <a:spAutoFit/>
          </a:bodyPr>
          <a:lstStyle/>
          <a:p>
            <a:pPr algn="just">
              <a:lnSpc>
                <a:spcPts val="2530"/>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Ư</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u tiên: Cấp cứu theo đánh giá chuyên môn; các lượt khác theo lịch và chính sách ưu tiên.</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530"/>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Dữ liệu: Mã bệnh nhân duy nhất, chống trùng; không xóa lịch sử quan trọng.</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530"/>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Lịch khám: Không trùng bác sĩ/phòng theo thời gian; kiểm soát trạng thái.</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530"/>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Điều trị: Kiểm tra dị ứng, liều, tương tác thuốc; kết quả CLS phải xác nhận.</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530"/>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Kho: Không xuất quá tồn; FEFO, cảnh báo hết hạn và thu hồi.</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a:p>
            <a:pPr algn="just">
              <a:lnSpc>
                <a:spcPts val="2530"/>
              </a:lnSpc>
            </a:pPr>
            <a:r>
              <a:rPr sz="2400">
                <a:latin typeface="Times New Roman" panose="02020603050405020304" charset="0"/>
                <a:cs typeface="Times New Roman" panose="02020603050405020304" charset="0"/>
                <a:sym typeface="+mn-ea"/>
              </a:rPr>
              <a:t>• </a:t>
            </a:r>
            <a:r>
              <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rPr>
              <a:t>Tài chính &amp; bảo mật: Chống thu trùng; hoàn/hủy có phê duyệt, phân quyền và nhật ký.</a:t>
            </a:r>
            <a:endParaRPr lang="en-US" altLang="en-US" sz="2400">
              <a:solidFill>
                <a:srgbClr val="111111"/>
              </a:solidFill>
              <a:latin typeface="Times New Roman" panose="02020603050405020304" charset="0"/>
              <a:ea typeface="Noto Sans" panose="020B0502040504020204"/>
              <a:cs typeface="Times New Roman" panose="02020603050405020304" charset="0"/>
              <a:sym typeface="Noto Sans" panose="020B0502040504020204"/>
            </a:endParaRPr>
          </a:p>
        </p:txBody>
      </p:sp>
      <p:sp>
        <p:nvSpPr>
          <p:cNvPr id="26" name="TextBox 25"/>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04</a:t>
            </a:r>
            <a:endParaRPr sz="900" b="1">
              <a:solidFill>
                <a:srgbClr val="111111"/>
              </a:solidFill>
              <a:latin typeface="Aptos"/>
            </a:endParaRPr>
          </a:p>
        </p:txBody>
      </p:sp>
      <p:sp>
        <p:nvSpPr>
          <p:cNvPr id="44" name="Rounded Rectangle 43"/>
          <p:cNvSpPr/>
          <p:nvPr/>
        </p:nvSpPr>
        <p:spPr>
          <a:xfrm>
            <a:off x="1047750" y="8496300"/>
            <a:ext cx="16215995" cy="960120"/>
          </a:xfrm>
          <a:prstGeom prst="roundRect">
            <a:avLst/>
          </a:prstGeom>
          <a:solidFill>
            <a:srgbClr val="F2F8F9"/>
          </a:solidFill>
          <a:ln w="13970">
            <a:solidFill>
              <a:srgbClr val="1F7D8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normAutofit/>
          </a:bodyPr>
          <a:lstStyle/>
          <a:p>
            <a:pPr algn="l">
              <a:spcAft>
                <a:spcPts val="300"/>
              </a:spcAft>
              <a:defRPr sz="1500" b="1">
                <a:solidFill>
                  <a:srgbClr val="1F4563"/>
                </a:solidFill>
                <a:latin typeface="Aptos"/>
              </a:defRPr>
            </a:pPr>
            <a:r>
              <a:rPr sz="1800"/>
              <a:t>NGUYÊN TẮC XUYÊN SUỐT</a:t>
            </a:r>
            <a:endParaRPr sz="1800"/>
          </a:p>
          <a:p>
            <a:pPr algn="l">
              <a:defRPr sz="1250">
                <a:solidFill>
                  <a:srgbClr val="303E4A"/>
                </a:solidFill>
                <a:latin typeface="Aptos"/>
              </a:defRPr>
            </a:pPr>
            <a:r>
              <a:rPr sz="1800"/>
              <a:t>Phân quyền đúng vai trò • Kiểm tra dữ liệu bắt buộc • Giữ trạng thái nghiệp vụ nhất quán • Ghi nhật ký thao tác nhạy cảm để kiểm tra và truy vết.</a:t>
            </a:r>
            <a:endParaRPr sz="1800"/>
          </a:p>
        </p:txBody>
      </p:sp>
      <p:sp>
        <p:nvSpPr>
          <p:cNvPr id="31" name="Rectangle 30"/>
          <p:cNvSpPr/>
          <p:nvPr/>
        </p:nvSpPr>
        <p:spPr>
          <a:xfrm>
            <a:off x="805180" y="6477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3810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12172950" cy="830580"/>
          </a:xfrm>
          <a:prstGeom prst="rect">
            <a:avLst/>
          </a:prstGeom>
          <a:noFill/>
        </p:spPr>
        <p:txBody>
          <a:bodyPr wrap="none" lIns="0" tIns="0" rIns="0" bIns="0">
            <a:spAutoFit/>
          </a:bodyPr>
          <a:lstStyle/>
          <a:p>
            <a:pPr algn="l">
              <a:defRPr sz="2700" b="1">
                <a:solidFill>
                  <a:srgbClr val="1E1E1E"/>
                </a:solidFill>
                <a:latin typeface="Aptos Display"/>
              </a:defRPr>
            </a:pPr>
            <a:r>
              <a:rPr sz="5400">
                <a:solidFill/>
                <a:latin typeface="Times New Roman" panose="02020603050405020304" charset="0"/>
                <a:cs typeface="Times New Roman" panose="02020603050405020304" charset="0"/>
              </a:rPr>
              <a:t>Use Case Diagram</a:t>
            </a:r>
            <a:r>
              <a:rPr lang="en-US" sz="5400">
                <a:solidFill/>
                <a:latin typeface="Times New Roman" panose="02020603050405020304" charset="0"/>
                <a:cs typeface="Times New Roman" panose="02020603050405020304" charset="0"/>
              </a:rPr>
              <a:t>: </a:t>
            </a:r>
            <a:r>
              <a:rPr sz="5400">
                <a:solidFill/>
                <a:latin typeface="Times New Roman" panose="02020603050405020304" charset="0"/>
                <a:cs typeface="Times New Roman" panose="02020603050405020304" charset="0"/>
              </a:rPr>
              <a:t>Tổng quan chức năng</a:t>
            </a:r>
            <a:endParaRPr sz="5400">
              <a:solidFill/>
              <a:latin typeface="Times New Roman" panose="02020603050405020304" charset="0"/>
              <a:cs typeface="Times New Roman" panose="02020603050405020304" charset="0"/>
            </a:endParaRPr>
          </a:p>
        </p:txBody>
      </p:sp>
      <p:sp>
        <p:nvSpPr>
          <p:cNvPr id="5" name="TextBox 4"/>
          <p:cNvSpPr txBox="1"/>
          <p:nvPr/>
        </p:nvSpPr>
        <p:spPr>
          <a:xfrm>
            <a:off x="838200" y="1105027"/>
            <a:ext cx="11980545" cy="430530"/>
          </a:xfrm>
          <a:prstGeom prst="rect">
            <a:avLst/>
          </a:prstGeom>
          <a:noFill/>
        </p:spPr>
        <p:txBody>
          <a:bodyPr wrap="none" lIns="0" tIns="0" rIns="0" bIns="0">
            <a:spAutoFit/>
          </a:bodyPr>
          <a:lstStyle/>
          <a:p>
            <a:pPr algn="l">
              <a:defRPr sz="1500">
                <a:solidFill>
                  <a:srgbClr val="5A5A5A"/>
                </a:solidFill>
                <a:latin typeface="Aptos"/>
              </a:defRPr>
            </a:pPr>
            <a:r>
              <a:rPr sz="2800">
                <a:solidFill/>
                <a:latin typeface="Times New Roman" panose="02020603050405020304" charset="0"/>
                <a:cs typeface="Times New Roman" panose="02020603050405020304" charset="0"/>
              </a:rPr>
              <a:t>Các tác nhân và nhóm chức năng chính của hệ thống quản lý phòng khám nha khoa.</a:t>
            </a:r>
            <a:endParaRPr sz="2800">
              <a:solidFill/>
              <a:latin typeface="Times New Roman" panose="02020603050405020304" charset="0"/>
              <a:cs typeface="Times New Roman" panose="02020603050405020304" charset="0"/>
            </a:endParaRPr>
          </a:p>
        </p:txBody>
      </p:sp>
      <p:sp>
        <p:nvSpPr>
          <p:cNvPr id="6" name="TextBox 5"/>
          <p:cNvSpPr txBox="1"/>
          <p:nvPr/>
        </p:nvSpPr>
        <p:spPr>
          <a:xfrm>
            <a:off x="914400" y="9468168"/>
            <a:ext cx="16459200" cy="374015"/>
          </a:xfrm>
          <a:prstGeom prst="rect">
            <a:avLst/>
          </a:prstGeom>
          <a:noFill/>
        </p:spPr>
        <p:txBody>
          <a:bodyPr wrap="square" tIns="18288" bIns="18288" anchor="ctr">
            <a:spAutoFit/>
          </a:bodyPr>
          <a:lstStyle/>
          <a:p>
            <a:pPr algn="ctr">
              <a:defRPr sz="1200" i="1">
                <a:solidFill>
                  <a:srgbClr val="555555"/>
                </a:solidFill>
                <a:latin typeface="Aptos"/>
              </a:defRPr>
            </a:pPr>
            <a:r>
              <a:rPr sz="2200" b="1" i="0">
                <a:solidFill>
                  <a:srgbClr val="111111"/>
                </a:solidFill>
                <a:latin typeface="Times New Roman" panose="02020603050405020304" charset="0"/>
                <a:cs typeface="Times New Roman" panose="02020603050405020304" charset="0"/>
              </a:rPr>
              <a:t>Hình 1. Sơ đồ Use Case tổng quan hệ thống quản lý phòng khám nha khoa</a:t>
            </a:r>
            <a:endParaRPr sz="2200" b="1" i="0">
              <a:solidFill>
                <a:srgbClr val="111111"/>
              </a:solidFill>
              <a:latin typeface="Times New Roman" panose="02020603050405020304" charset="0"/>
              <a:cs typeface="Times New Roman" panose="02020603050405020304" charset="0"/>
            </a:endParaRPr>
          </a:p>
        </p:txBody>
      </p:sp>
      <p:sp>
        <p:nvSpPr>
          <p:cNvPr id="10" name="Rectangle 9"/>
          <p:cNvSpPr/>
          <p:nvPr/>
        </p:nvSpPr>
        <p:spPr>
          <a:xfrm>
            <a:off x="475488" y="10076688"/>
            <a:ext cx="4125685" cy="32004"/>
          </a:xfrm>
          <a:prstGeom prst="rect">
            <a:avLst/>
          </a:prstGeom>
          <a:solidFill>
            <a:srgbClr val="AA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05</a:t>
            </a:r>
            <a:endParaRPr sz="900" b="1">
              <a:solidFill>
                <a:srgbClr val="111111"/>
              </a:solidFill>
              <a:latin typeface="Aptos"/>
            </a:endParaRPr>
          </a:p>
        </p:txBody>
      </p:sp>
      <p:sp>
        <p:nvSpPr>
          <p:cNvPr id="31" name="Rectangle 30"/>
          <p:cNvSpPr/>
          <p:nvPr/>
        </p:nvSpPr>
        <p:spPr>
          <a:xfrm>
            <a:off x="728980" y="3429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pic>
        <p:nvPicPr>
          <p:cNvPr id="388514922" name="Picture 1"/>
          <p:cNvPicPr>
            <a:picLocks noChangeAspect="1"/>
          </p:cNvPicPr>
          <p:nvPr/>
        </p:nvPicPr>
        <p:blipFill>
          <a:blip r:embed="rId2"/>
          <a:stretch>
            <a:fillRect/>
          </a:stretch>
        </p:blipFill>
        <p:spPr>
          <a:xfrm>
            <a:off x="3103880" y="1562100"/>
            <a:ext cx="12080240" cy="790448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dental_bg.png"/>
          <p:cNvPicPr>
            <a:picLocks noChangeAspect="1"/>
          </p:cNvPicPr>
          <p:nvPr/>
        </p:nvPicPr>
        <p:blipFill>
          <a:blip r:embed="rId1"/>
          <a:stretch>
            <a:fillRect/>
          </a:stretch>
        </p:blipFill>
        <p:spPr>
          <a:xfrm>
            <a:off x="0" y="0"/>
            <a:ext cx="18288000" cy="10287000"/>
          </a:xfrm>
          <a:prstGeom prst="rect">
            <a:avLst/>
          </a:prstGeom>
        </p:spPr>
      </p:pic>
      <p:sp>
        <p:nvSpPr>
          <p:cNvPr id="42" name="Oval 41"/>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1" name="Oval 40"/>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0" name="Oval 39"/>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 name="TextBox 2"/>
          <p:cNvSpPr txBox="1"/>
          <p:nvPr/>
        </p:nvSpPr>
        <p:spPr>
          <a:xfrm>
            <a:off x="1051560" y="647700"/>
            <a:ext cx="14287500" cy="830580"/>
          </a:xfrm>
          <a:prstGeom prst="rect">
            <a:avLst/>
          </a:prstGeom>
        </p:spPr>
        <p:txBody>
          <a:bodyPr wrap="square" lIns="73152" tIns="0" rIns="73152" bIns="0" rtlCol="0" anchor="t">
            <a:spAutoFit/>
          </a:bodyPr>
          <a:lstStyle/>
          <a:p>
            <a:pPr>
              <a:spcAft>
                <a:spcPts val="0"/>
              </a:spcAft>
            </a:pPr>
            <a:r>
              <a:rPr sz="5400" b="1">
                <a:solidFill>
                  <a:srgbClr val="142330"/>
                </a:solidFill>
                <a:latin typeface="Times New Roman" panose="02020603050405020304" charset="0"/>
                <a:cs typeface="Times New Roman" panose="02020603050405020304" charset="0"/>
              </a:rPr>
              <a:t>Đặc tả UC004: Thêm mới tài khoản</a:t>
            </a:r>
            <a:endParaRPr sz="5400" b="1">
              <a:solidFill>
                <a:srgbClr val="142330"/>
              </a:solidFill>
              <a:latin typeface="Times New Roman" panose="02020603050405020304" charset="0"/>
              <a:cs typeface="Times New Roman" panose="02020603050405020304" charset="0"/>
            </a:endParaRPr>
          </a:p>
        </p:txBody>
      </p:sp>
      <p:sp>
        <p:nvSpPr>
          <p:cNvPr id="3" name="TextBox 3"/>
          <p:cNvSpPr txBox="1"/>
          <p:nvPr/>
        </p:nvSpPr>
        <p:spPr>
          <a:xfrm>
            <a:off x="1047750" y="1483995"/>
            <a:ext cx="14287500" cy="430530"/>
          </a:xfrm>
          <a:prstGeom prst="rect">
            <a:avLst/>
          </a:prstGeom>
        </p:spPr>
        <p:txBody>
          <a:bodyPr wrap="square" lIns="73152" tIns="0" rIns="73152" bIns="0" rtlCol="0" anchor="t">
            <a:spAutoFit/>
          </a:bodyPr>
          <a:lstStyle/>
          <a:p>
            <a:pPr>
              <a:spcAft>
                <a:spcPts val="0"/>
              </a:spcAft>
            </a:pPr>
            <a:r>
              <a:rPr sz="2800">
                <a:solidFill>
                  <a:srgbClr val="273642"/>
                </a:solidFill>
                <a:latin typeface="Times New Roman" panose="02020603050405020304" charset="0"/>
                <a:cs typeface="Times New Roman" panose="02020603050405020304" charset="0"/>
              </a:rPr>
              <a:t>Tạo tài khoản đăng nhập cho nhân sự và gán vai trò làm việc trong hệ thống.</a:t>
            </a:r>
            <a:endParaRPr sz="2800">
              <a:solidFill>
                <a:srgbClr val="273642"/>
              </a:solidFill>
              <a:latin typeface="Times New Roman" panose="02020603050405020304" charset="0"/>
              <a:cs typeface="Times New Roman" panose="02020603050405020304" charset="0"/>
            </a:endParaRPr>
          </a:p>
        </p:txBody>
      </p:sp>
      <p:grpSp>
        <p:nvGrpSpPr>
          <p:cNvPr id="4" name="Group 4"/>
          <p:cNvGrpSpPr/>
          <p:nvPr/>
        </p:nvGrpSpPr>
        <p:grpSpPr>
          <a:xfrm rot="0">
            <a:off x="1047750" y="2571750"/>
            <a:ext cx="4953000" cy="4779645"/>
            <a:chOff x="0" y="0"/>
            <a:chExt cx="6604000" cy="7620000"/>
          </a:xfrm>
        </p:grpSpPr>
        <p:sp>
          <p:nvSpPr>
            <p:cNvPr id="5" name="Freeform 5"/>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FFFFF"/>
            </a:solidFill>
            <a:ln w="9525" cap="sq">
              <a:solidFill>
                <a:srgbClr val="D9D5CF"/>
              </a:solidFill>
              <a:prstDash val="solid"/>
              <a:miter/>
            </a:ln>
          </p:spPr>
        </p:sp>
        <p:sp>
          <p:nvSpPr>
            <p:cNvPr id="6" name="TextBox 6"/>
            <p:cNvSpPr txBox="1"/>
            <p:nvPr/>
          </p:nvSpPr>
          <p:spPr>
            <a:xfrm>
              <a:off x="0" y="-38100"/>
              <a:ext cx="6604000" cy="7658100"/>
            </a:xfrm>
            <a:prstGeom prst="rect">
              <a:avLst/>
            </a:prstGeom>
          </p:spPr>
          <p:txBody>
            <a:bodyPr lIns="50800" tIns="50800" rIns="50800" bIns="50800" rtlCol="0" anchor="ctr"/>
            <a:lstStyle/>
            <a:p>
              <a:pPr algn="l">
                <a:lnSpc>
                  <a:spcPts val="1680"/>
                </a:lnSpc>
              </a:pPr>
              <a:endParaRPr sz="2800">
                <a:latin typeface="Times New Roman" panose="02020603050405020304" charset="0"/>
                <a:cs typeface="Times New Roman" panose="02020603050405020304" charset="0"/>
              </a:endParaRPr>
            </a:p>
          </p:txBody>
        </p:sp>
      </p:grpSp>
      <p:grpSp>
        <p:nvGrpSpPr>
          <p:cNvPr id="7" name="Group 7"/>
          <p:cNvGrpSpPr/>
          <p:nvPr/>
        </p:nvGrpSpPr>
        <p:grpSpPr>
          <a:xfrm rot="0">
            <a:off x="6572250" y="2571750"/>
            <a:ext cx="4953000" cy="4779645"/>
            <a:chOff x="0" y="0"/>
            <a:chExt cx="6604000" cy="7620000"/>
          </a:xfrm>
        </p:grpSpPr>
        <p:sp>
          <p:nvSpPr>
            <p:cNvPr id="8" name="Freeform 8"/>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FFFFF"/>
            </a:solidFill>
            <a:ln w="9525" cap="sq">
              <a:solidFill>
                <a:srgbClr val="D9D5CF"/>
              </a:solidFill>
              <a:prstDash val="solid"/>
              <a:miter/>
            </a:ln>
          </p:spPr>
        </p:sp>
        <p:sp>
          <p:nvSpPr>
            <p:cNvPr id="9" name="TextBox 9"/>
            <p:cNvSpPr txBox="1"/>
            <p:nvPr/>
          </p:nvSpPr>
          <p:spPr>
            <a:xfrm>
              <a:off x="0" y="-38100"/>
              <a:ext cx="6604000" cy="7658100"/>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grpSp>
        <p:nvGrpSpPr>
          <p:cNvPr id="10" name="Group 10"/>
          <p:cNvGrpSpPr/>
          <p:nvPr/>
        </p:nvGrpSpPr>
        <p:grpSpPr>
          <a:xfrm rot="0">
            <a:off x="12096750" y="2543175"/>
            <a:ext cx="4953000" cy="4808855"/>
            <a:chOff x="0" y="-38100"/>
            <a:chExt cx="6604000" cy="7658100"/>
          </a:xfrm>
        </p:grpSpPr>
        <p:sp>
          <p:nvSpPr>
            <p:cNvPr id="11" name="Freeform 11"/>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1E5E6"/>
            </a:solidFill>
            <a:ln w="9525" cap="sq">
              <a:solidFill>
                <a:srgbClr val="A61E2D"/>
              </a:solidFill>
              <a:prstDash val="solid"/>
              <a:miter/>
            </a:ln>
          </p:spPr>
        </p:sp>
        <p:sp>
          <p:nvSpPr>
            <p:cNvPr id="12" name="TextBox 12"/>
            <p:cNvSpPr txBox="1"/>
            <p:nvPr/>
          </p:nvSpPr>
          <p:spPr>
            <a:xfrm>
              <a:off x="0" y="-38100"/>
              <a:ext cx="6604000" cy="5946987"/>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sp>
        <p:nvSpPr>
          <p:cNvPr id="14" name="TextBox 14"/>
          <p:cNvSpPr txBox="1"/>
          <p:nvPr/>
        </p:nvSpPr>
        <p:spPr>
          <a:xfrm>
            <a:off x="1489075" y="289115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Thông tin Use Case</a:t>
            </a:r>
            <a:endParaRPr sz="2800" b="1">
              <a:solidFill>
                <a:srgbClr val="A33543"/>
              </a:solidFill>
              <a:latin typeface="Times New Roman" panose="02020603050405020304" charset="0"/>
              <a:cs typeface="Times New Roman" panose="02020603050405020304" charset="0"/>
            </a:endParaRPr>
          </a:p>
        </p:txBody>
      </p:sp>
      <p:sp>
        <p:nvSpPr>
          <p:cNvPr id="15" name="TextBox 15"/>
          <p:cNvSpPr txBox="1"/>
          <p:nvPr/>
        </p:nvSpPr>
        <p:spPr>
          <a:xfrm>
            <a:off x="1476375" y="3619500"/>
            <a:ext cx="4206240" cy="2689860"/>
          </a:xfrm>
          <a:prstGeom prst="rect">
            <a:avLst/>
          </a:prstGeom>
        </p:spPr>
        <p:txBody>
          <a:bodyPr wrap="square" lIns="36576" tIns="18288" rIns="36576" bIns="18288" rtlCol="0" anchor="t">
            <a:spAutoFit/>
          </a:bodyPr>
          <a:lstStyle/>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Mục đích: </a:t>
            </a:r>
            <a:r>
              <a:rPr sz="2000" b="0">
                <a:solidFill>
                  <a:srgbClr val="273642"/>
                </a:solidFill>
                <a:latin typeface="Times New Roman" panose="02020603050405020304" charset="0"/>
                <a:cs typeface="Times New Roman" panose="02020603050405020304" charset="0"/>
              </a:rPr>
              <a:t>Tạo tài khoản người dùng mới để cấp quyền làm việc cho nhân sự phòng khám.</a:t>
            </a:r>
            <a:endParaRPr sz="2000" b="0">
              <a:solidFill>
                <a:srgbClr val="23303A"/>
              </a:solidFill>
              <a:latin typeface="Times New Roman" panose="02020603050405020304" charset="0"/>
              <a:cs typeface="Times New Roman" panose="02020603050405020304" charset="0"/>
            </a:endParaRPr>
          </a:p>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Tác nhân: </a:t>
            </a:r>
            <a:r>
              <a:rPr sz="2000" b="0">
                <a:solidFill>
                  <a:srgbClr val="273642"/>
                </a:solidFill>
                <a:latin typeface="Times New Roman" panose="02020603050405020304" charset="0"/>
                <a:cs typeface="Times New Roman" panose="02020603050405020304" charset="0"/>
              </a:rPr>
              <a:t>Admin.</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Tiền điều kiện: </a:t>
            </a:r>
            <a:r>
              <a:rPr sz="2000" b="0">
                <a:solidFill>
                  <a:srgbClr val="273642"/>
                </a:solidFill>
                <a:latin typeface="Times New Roman" panose="02020603050405020304" charset="0"/>
                <a:cs typeface="Times New Roman" panose="02020603050405020304" charset="0"/>
              </a:rPr>
              <a:t>Admin đang ở giao diện Quản lý tài khoản (UC003).</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Hậu điều kiện: </a:t>
            </a:r>
            <a:r>
              <a:rPr sz="2000" b="0">
                <a:solidFill>
                  <a:srgbClr val="273642"/>
                </a:solidFill>
                <a:latin typeface="Times New Roman" panose="02020603050405020304" charset="0"/>
                <a:cs typeface="Times New Roman" panose="02020603050405020304" charset="0"/>
              </a:rPr>
              <a:t>Tài khoản được lưu thành công với trạng thái “Hoạt động”.</a:t>
            </a:r>
            <a:endParaRPr sz="2000" b="0">
              <a:solidFill>
                <a:srgbClr val="273642"/>
              </a:solidFill>
              <a:latin typeface="Times New Roman" panose="02020603050405020304" charset="0"/>
              <a:cs typeface="Times New Roman" panose="02020603050405020304" charset="0"/>
            </a:endParaRPr>
          </a:p>
        </p:txBody>
      </p:sp>
      <p:sp>
        <p:nvSpPr>
          <p:cNvPr id="17" name="TextBox 17"/>
          <p:cNvSpPr txBox="1"/>
          <p:nvPr/>
        </p:nvSpPr>
        <p:spPr>
          <a:xfrm>
            <a:off x="7000875" y="2922270"/>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Luồng sự kiện chính</a:t>
            </a:r>
            <a:endParaRPr sz="2800" b="1">
              <a:solidFill>
                <a:srgbClr val="A33543"/>
              </a:solidFill>
              <a:latin typeface="Times New Roman" panose="02020603050405020304" charset="0"/>
              <a:cs typeface="Times New Roman" panose="02020603050405020304" charset="0"/>
            </a:endParaRPr>
          </a:p>
        </p:txBody>
      </p:sp>
      <p:sp>
        <p:nvSpPr>
          <p:cNvPr id="18" name="TextBox 18"/>
          <p:cNvSpPr txBox="1"/>
          <p:nvPr/>
        </p:nvSpPr>
        <p:spPr>
          <a:xfrm>
            <a:off x="7000875" y="3619500"/>
            <a:ext cx="4206240" cy="3618230"/>
          </a:xfrm>
          <a:prstGeom prst="rect">
            <a:avLst/>
          </a:prstGeom>
        </p:spPr>
        <p:txBody>
          <a:bodyPr wrap="square" lIns="36576" tIns="18288" rIns="36576" bIns="18288" rtlCol="0" anchor="t">
            <a:spAutoFit/>
          </a:bodyPr>
          <a:lstStyle/>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1. Admin nhấn “Thêm mới tài khoản”.</a:t>
            </a:r>
            <a:endParaRPr sz="2000" b="0">
              <a:solidFill>
                <a:srgbClr val="23303A"/>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2. Hệ thống hiển thị form trống.</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3. Admin nhập tên đăng nhập, mật khẩu và vai trò làm việc.</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4. Admin nhấn “Lưu thông tin”.</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5. Hệ thống kiểm tra định dạng và trùng lặp dữ liệu.</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6. Hệ thống đặt trạng thái “Hoạt động”.</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7. Hệ thống lưu dữ liệu vào CSDL.</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8. Thông báo “Thêm tài khoản thành công”.</a:t>
            </a:r>
            <a:endParaRPr sz="2000" b="0">
              <a:solidFill>
                <a:srgbClr val="273642"/>
              </a:solidFill>
              <a:latin typeface="Times New Roman" panose="02020603050405020304" charset="0"/>
              <a:cs typeface="Times New Roman" panose="02020603050405020304" charset="0"/>
            </a:endParaRPr>
          </a:p>
        </p:txBody>
      </p:sp>
      <p:sp>
        <p:nvSpPr>
          <p:cNvPr id="20" name="TextBox 20"/>
          <p:cNvSpPr txBox="1"/>
          <p:nvPr/>
        </p:nvSpPr>
        <p:spPr>
          <a:xfrm>
            <a:off x="12573000" y="289115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Luồng sự kiện phụ</a:t>
            </a:r>
            <a:endParaRPr sz="2800" b="1">
              <a:solidFill>
                <a:srgbClr val="A33543"/>
              </a:solidFill>
              <a:latin typeface="Times New Roman" panose="02020603050405020304" charset="0"/>
              <a:cs typeface="Times New Roman" panose="02020603050405020304" charset="0"/>
            </a:endParaRPr>
          </a:p>
        </p:txBody>
      </p:sp>
      <p:sp>
        <p:nvSpPr>
          <p:cNvPr id="21" name="TextBox 21"/>
          <p:cNvSpPr txBox="1"/>
          <p:nvPr/>
        </p:nvSpPr>
        <p:spPr>
          <a:xfrm>
            <a:off x="12562840" y="3543300"/>
            <a:ext cx="4206240" cy="2292350"/>
          </a:xfrm>
          <a:prstGeom prst="rect">
            <a:avLst/>
          </a:prstGeom>
        </p:spPr>
        <p:txBody>
          <a:bodyPr wrap="square" lIns="36576" tIns="18288" rIns="36576" bIns="18288" rtlCol="0" anchor="t">
            <a:spAutoFit/>
          </a:bodyPr>
          <a:lstStyle/>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Thiếu trường bắt buộc hoặc thông tin định danh bị trùng: hệ thống thông báo lỗi.</a:t>
            </a:r>
            <a:endParaRPr sz="2000" b="0">
              <a:solidFill>
                <a:srgbClr val="23303A"/>
              </a:solidFill>
              <a:latin typeface="Times New Roman" panose="02020603050405020304" charset="0"/>
              <a:cs typeface="Times New Roman" panose="02020603050405020304" charset="0"/>
            </a:endParaRPr>
          </a:p>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Admin sửa lại các trường thông tin lỗi ở form.</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Thực hiện lưu lại sau khi dữ liệu đã hợp lệ.</a:t>
            </a:r>
            <a:endParaRPr sz="2000" b="0">
              <a:solidFill>
                <a:srgbClr val="273642"/>
              </a:solidFill>
              <a:latin typeface="Times New Roman" panose="02020603050405020304" charset="0"/>
              <a:cs typeface="Times New Roman" panose="02020603050405020304" charset="0"/>
            </a:endParaRPr>
          </a:p>
        </p:txBody>
      </p:sp>
      <p:sp>
        <p:nvSpPr>
          <p:cNvPr id="26" name="TextBox 25"/>
          <p:cNvSpPr txBox="1"/>
          <p:nvPr/>
        </p:nvSpPr>
        <p:spPr>
          <a:xfrm>
            <a:off x="17465040" y="9802368"/>
            <a:ext cx="384048" cy="201168"/>
          </a:xfrm>
          <a:prstGeom prst="rect">
            <a:avLst/>
          </a:prstGeom>
          <a:noFill/>
        </p:spPr>
        <p:txBody>
          <a:bodyPr wrap="square" lIns="0" tIns="0" rIns="0" bIns="0">
            <a:spAutoFit/>
          </a:bodyPr>
          <a:lstStyle/>
          <a:p>
            <a:r>
              <a:t>06</a:t>
            </a:r>
          </a:p>
        </p:txBody>
      </p:sp>
      <p:sp>
        <p:nvSpPr>
          <p:cNvPr id="44" name="Rounded Rectangle 43"/>
          <p:cNvSpPr/>
          <p:nvPr/>
        </p:nvSpPr>
        <p:spPr>
          <a:xfrm>
            <a:off x="1047750" y="7734300"/>
            <a:ext cx="16002000" cy="1769745"/>
          </a:xfrm>
          <a:prstGeom prst="roundRect">
            <a:avLst/>
          </a:prstGeom>
          <a:solidFill>
            <a:srgbClr val="F2F8F9"/>
          </a:solidFill>
          <a:ln w="13970">
            <a:solidFill>
              <a:srgbClr val="1F7D8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normAutofit/>
          </a:bodyPr>
          <a:lstStyle/>
          <a:p>
            <a:pPr algn="l">
              <a:spcAft>
                <a:spcPts val="500"/>
              </a:spcAft>
              <a:defRPr sz="1500" b="1">
                <a:solidFill>
                  <a:srgbClr val="183752"/>
                </a:solidFill>
                <a:latin typeface="Aptos Display"/>
              </a:defRPr>
            </a:pPr>
            <a:r>
              <a:rPr sz="2000">
                <a:latin typeface="Times New Roman" panose="02020603050405020304" charset="0"/>
                <a:cs typeface="Times New Roman" panose="02020603050405020304" charset="0"/>
              </a:rPr>
              <a:t>
</a:t>
            </a:r>
            <a:endParaRPr sz="1500">
              <a:latin typeface="Times New Roman" panose="02020603050405020304" charset="0"/>
              <a:cs typeface="Times New Roman" panose="02020603050405020304" charset="0"/>
            </a:endParaRPr>
          </a:p>
          <a:p>
            <a:pPr>
              <a:spcAft>
                <a:spcPts val="300"/>
              </a:spcAft>
              <a:defRPr sz="1300">
                <a:solidFill>
                  <a:srgbClr val="263643"/>
                </a:solidFill>
                <a:latin typeface="Aptos"/>
              </a:defRPr>
            </a:pPr>
            <a:endParaRPr>
              <a:latin typeface="Times New Roman" panose="02020603050405020304" charset="0"/>
              <a:cs typeface="Times New Roman" panose="02020603050405020304" charset="0"/>
            </a:endParaRPr>
          </a:p>
        </p:txBody>
      </p:sp>
      <p:sp>
        <p:nvSpPr>
          <p:cNvPr id="23" name="Text Box 22"/>
          <p:cNvSpPr txBox="1"/>
          <p:nvPr/>
        </p:nvSpPr>
        <p:spPr>
          <a:xfrm>
            <a:off x="1295400" y="7886700"/>
            <a:ext cx="7103745" cy="460375"/>
          </a:xfrm>
          <a:prstGeom prst="rect">
            <a:avLst/>
          </a:prstGeom>
          <a:noFill/>
        </p:spPr>
        <p:txBody>
          <a:bodyPr wrap="square" rtlCol="0">
            <a:spAutoFit/>
          </a:bodyPr>
          <a:p>
            <a:pPr>
              <a:spcAft>
                <a:spcPts val="0"/>
              </a:spcAft>
            </a:pPr>
            <a:r>
              <a:rPr sz="2400" b="1">
                <a:solidFill>
                  <a:srgbClr val="FA903A"/>
                </a:solidFill>
                <a:latin typeface="Times New Roman" panose="02020603050405020304" charset="0"/>
                <a:cs typeface="Times New Roman" panose="02020603050405020304" charset="0"/>
              </a:rPr>
              <a:t>KẾT QUẢ &amp; RÀNG BUỘC</a:t>
            </a:r>
            <a:endParaRPr sz="2400" b="1">
              <a:solidFill>
                <a:srgbClr val="FA903A"/>
              </a:solidFill>
              <a:latin typeface="Times New Roman" panose="02020603050405020304" charset="0"/>
              <a:cs typeface="Times New Roman" panose="02020603050405020304" charset="0"/>
            </a:endParaRPr>
          </a:p>
        </p:txBody>
      </p:sp>
      <p:sp>
        <p:nvSpPr>
          <p:cNvPr id="24" name="Text Box 23"/>
          <p:cNvSpPr txBox="1"/>
          <p:nvPr/>
        </p:nvSpPr>
        <p:spPr>
          <a:xfrm>
            <a:off x="1295400" y="8496300"/>
            <a:ext cx="12886055" cy="640715"/>
          </a:xfrm>
          <a:prstGeom prst="rect">
            <a:avLst/>
          </a:prstGeom>
          <a:noFill/>
        </p:spPr>
        <p:txBody>
          <a:bodyPr wrap="square" lIns="27432" tIns="0" rIns="27432" bIns="0" rtlCol="0" anchor="t">
            <a:spAutoFit/>
          </a:bodyPr>
          <a:p>
            <a:pPr>
              <a:lnSpc>
                <a:spcPct val="100000"/>
              </a:lnSpc>
              <a:spcBef>
                <a:spcPts val="0"/>
              </a:spcBef>
              <a:spcAft>
                <a:spcPts val="200"/>
              </a:spcAft>
            </a:pPr>
            <a:r>
              <a:rPr sz="2000">
                <a:solidFill>
                  <a:srgbClr val="273642"/>
                </a:solidFill>
                <a:latin typeface="Times New Roman" panose="02020603050405020304" charset="0"/>
                <a:cs typeface="Times New Roman" panose="02020603050405020304" charset="0"/>
                <a:sym typeface="+mn-ea"/>
              </a:rPr>
              <a:t>• </a:t>
            </a:r>
            <a:r>
              <a:rPr sz="2000" b="0">
                <a:solidFill>
                  <a:srgbClr val="273642"/>
                </a:solidFill>
                <a:latin typeface="Times New Roman" panose="02020603050405020304" charset="0"/>
                <a:cs typeface="Times New Roman" panose="02020603050405020304" charset="0"/>
              </a:rPr>
              <a:t>Tài khoản chỉ được lưu khi thông tin hợp lệ, không trùng lặp và các trường bắt buộc được điền đầy đủ.</a:t>
            </a:r>
            <a:endParaRPr lang="en-US" sz="2000">
              <a:latin typeface="Times New Roman" panose="02020603050405020304" charset="0"/>
              <a:cs typeface="Times New Roman" panose="02020603050405020304" charset="0"/>
            </a:endParaRPr>
          </a:p>
          <a:p>
            <a:pPr>
              <a:lnSpc>
                <a:spcPct val="100000"/>
              </a:lnSpc>
              <a:spcBef>
                <a:spcPts val="0"/>
              </a:spcBef>
              <a:spcAft>
                <a:spcPts val="200"/>
              </a:spcAft>
            </a:pPr>
            <a:r>
              <a:rPr sz="2000">
                <a:solidFill>
                  <a:srgbClr val="273642"/>
                </a:solidFill>
                <a:latin typeface="Times New Roman" panose="02020603050405020304" charset="0"/>
                <a:cs typeface="Times New Roman" panose="02020603050405020304" charset="0"/>
                <a:sym typeface="+mn-ea"/>
              </a:rPr>
              <a:t>• </a:t>
            </a:r>
            <a:r>
              <a:rPr sz="2000" b="0">
                <a:solidFill>
                  <a:srgbClr val="273642"/>
                </a:solidFill>
                <a:latin typeface="Times New Roman" panose="02020603050405020304" charset="0"/>
                <a:cs typeface="Times New Roman" panose="02020603050405020304" charset="0"/>
              </a:rPr>
              <a:t>Sau khi lưu thành công, trạng thái tài khoản là “Hoạt động”.</a:t>
            </a:r>
            <a:endParaRPr sz="2000" b="0">
              <a:solidFill>
                <a:srgbClr val="273642"/>
              </a:solidFill>
              <a:latin typeface="Times New Roman" panose="02020603050405020304" charset="0"/>
              <a:cs typeface="Times New Roman" panose="02020603050405020304" charset="0"/>
            </a:endParaRPr>
          </a:p>
        </p:txBody>
      </p:sp>
      <p:sp>
        <p:nvSpPr>
          <p:cNvPr id="31" name="Rectangle 30"/>
          <p:cNvSpPr/>
          <p:nvPr/>
        </p:nvSpPr>
        <p:spPr>
          <a:xfrm>
            <a:off x="942340" y="75946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 name="Picture 42" descr="dental_bg.png"/>
          <p:cNvPicPr>
            <a:picLocks noChangeAspect="1"/>
          </p:cNvPicPr>
          <p:nvPr/>
        </p:nvPicPr>
        <p:blipFill>
          <a:blip r:embed="rId1"/>
          <a:stretch>
            <a:fillRect/>
          </a:stretch>
        </p:blipFill>
        <p:spPr>
          <a:xfrm>
            <a:off x="0" y="0"/>
            <a:ext cx="18288000" cy="10287000"/>
          </a:xfrm>
          <a:prstGeom prst="rect">
            <a:avLst/>
          </a:prstGeom>
        </p:spPr>
      </p:pic>
      <p:sp>
        <p:nvSpPr>
          <p:cNvPr id="42" name="Oval 41"/>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1" name="Oval 40"/>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0" name="Oval 39"/>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 name="TextBox 2"/>
          <p:cNvSpPr txBox="1"/>
          <p:nvPr/>
        </p:nvSpPr>
        <p:spPr>
          <a:xfrm>
            <a:off x="1051560" y="647700"/>
            <a:ext cx="14287500" cy="830580"/>
          </a:xfrm>
          <a:prstGeom prst="rect">
            <a:avLst/>
          </a:prstGeom>
        </p:spPr>
        <p:txBody>
          <a:bodyPr wrap="square" lIns="73152" tIns="0" rIns="73152" bIns="0" rtlCol="0" anchor="t">
            <a:spAutoFit/>
          </a:bodyPr>
          <a:lstStyle/>
          <a:p>
            <a:pPr>
              <a:spcAft>
                <a:spcPts val="0"/>
              </a:spcAft>
            </a:pPr>
            <a:r>
              <a:rPr sz="5400" b="1">
                <a:solidFill>
                  <a:srgbClr val="142330"/>
                </a:solidFill>
                <a:latin typeface="Times New Roman" panose="02020603050405020304" charset="0"/>
                <a:cs typeface="Times New Roman" panose="02020603050405020304" charset="0"/>
              </a:rPr>
              <a:t>Đặc tả UC014: Thêm mới hồ sơ nhân viên</a:t>
            </a:r>
            <a:endParaRPr sz="5400" b="1">
              <a:solidFill>
                <a:srgbClr val="142330"/>
              </a:solidFill>
              <a:latin typeface="Times New Roman" panose="02020603050405020304" charset="0"/>
              <a:cs typeface="Times New Roman" panose="02020603050405020304" charset="0"/>
            </a:endParaRPr>
          </a:p>
        </p:txBody>
      </p:sp>
      <p:sp>
        <p:nvSpPr>
          <p:cNvPr id="3" name="TextBox 3"/>
          <p:cNvSpPr txBox="1"/>
          <p:nvPr/>
        </p:nvSpPr>
        <p:spPr>
          <a:xfrm>
            <a:off x="1066800" y="1426210"/>
            <a:ext cx="14287500" cy="430530"/>
          </a:xfrm>
          <a:prstGeom prst="rect">
            <a:avLst/>
          </a:prstGeom>
        </p:spPr>
        <p:txBody>
          <a:bodyPr wrap="square" lIns="73152" tIns="0" rIns="73152" bIns="0" rtlCol="0" anchor="t">
            <a:spAutoFit/>
          </a:bodyPr>
          <a:lstStyle/>
          <a:p>
            <a:pPr>
              <a:spcAft>
                <a:spcPts val="0"/>
              </a:spcAft>
            </a:pPr>
            <a:r>
              <a:rPr sz="2800">
                <a:solidFill>
                  <a:srgbClr val="273642"/>
                </a:solidFill>
                <a:latin typeface="Times New Roman" panose="02020603050405020304" charset="0"/>
                <a:cs typeface="Times New Roman" panose="02020603050405020304" charset="0"/>
              </a:rPr>
              <a:t>Ghi nhận thông tin nhân sự mới vào hệ thống quản lý phòng khám</a:t>
            </a:r>
            <a:r>
              <a:rPr sz="1400">
                <a:solidFill>
                  <a:srgbClr val="273642"/>
                </a:solidFill>
                <a:latin typeface="Times New Roman" panose="02020603050405020304" charset="0"/>
                <a:cs typeface="Times New Roman" panose="02020603050405020304" charset="0"/>
              </a:rPr>
              <a:t>.</a:t>
            </a:r>
            <a:endParaRPr sz="1400">
              <a:solidFill>
                <a:srgbClr val="273642"/>
              </a:solidFill>
              <a:latin typeface="Times New Roman" panose="02020603050405020304" charset="0"/>
              <a:cs typeface="Times New Roman" panose="02020603050405020304" charset="0"/>
            </a:endParaRPr>
          </a:p>
        </p:txBody>
      </p:sp>
      <p:grpSp>
        <p:nvGrpSpPr>
          <p:cNvPr id="4" name="Group 4"/>
          <p:cNvGrpSpPr/>
          <p:nvPr/>
        </p:nvGrpSpPr>
        <p:grpSpPr>
          <a:xfrm rot="0">
            <a:off x="1047750" y="2571750"/>
            <a:ext cx="4953000" cy="5382895"/>
            <a:chOff x="0" y="0"/>
            <a:chExt cx="6604000" cy="7620000"/>
          </a:xfrm>
        </p:grpSpPr>
        <p:sp>
          <p:nvSpPr>
            <p:cNvPr id="5" name="Freeform 5"/>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FFFFF"/>
            </a:solidFill>
            <a:ln w="9525" cap="sq">
              <a:solidFill>
                <a:srgbClr val="D9D5CF"/>
              </a:solidFill>
              <a:prstDash val="solid"/>
              <a:miter/>
            </a:ln>
          </p:spPr>
        </p:sp>
        <p:sp>
          <p:nvSpPr>
            <p:cNvPr id="6" name="TextBox 6"/>
            <p:cNvSpPr txBox="1"/>
            <p:nvPr/>
          </p:nvSpPr>
          <p:spPr>
            <a:xfrm>
              <a:off x="0" y="-38100"/>
              <a:ext cx="6604000" cy="7658100"/>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grpSp>
        <p:nvGrpSpPr>
          <p:cNvPr id="7" name="Group 7"/>
          <p:cNvGrpSpPr/>
          <p:nvPr/>
        </p:nvGrpSpPr>
        <p:grpSpPr>
          <a:xfrm rot="0">
            <a:off x="6572250" y="2571750"/>
            <a:ext cx="4953000" cy="5382895"/>
            <a:chOff x="0" y="0"/>
            <a:chExt cx="6604000" cy="7620000"/>
          </a:xfrm>
        </p:grpSpPr>
        <p:sp>
          <p:nvSpPr>
            <p:cNvPr id="8" name="Freeform 8"/>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FFFFF"/>
            </a:solidFill>
            <a:ln w="9525" cap="sq">
              <a:solidFill>
                <a:srgbClr val="D9D5CF"/>
              </a:solidFill>
              <a:prstDash val="solid"/>
              <a:miter/>
            </a:ln>
          </p:spPr>
        </p:sp>
        <p:sp>
          <p:nvSpPr>
            <p:cNvPr id="9" name="TextBox 9"/>
            <p:cNvSpPr txBox="1"/>
            <p:nvPr/>
          </p:nvSpPr>
          <p:spPr>
            <a:xfrm>
              <a:off x="0" y="-38100"/>
              <a:ext cx="6604000" cy="7658100"/>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grpSp>
        <p:nvGrpSpPr>
          <p:cNvPr id="10" name="Group 10"/>
          <p:cNvGrpSpPr/>
          <p:nvPr/>
        </p:nvGrpSpPr>
        <p:grpSpPr>
          <a:xfrm rot="0">
            <a:off x="12096750" y="2571750"/>
            <a:ext cx="4953000" cy="5382895"/>
            <a:chOff x="0" y="0"/>
            <a:chExt cx="6604000" cy="7620000"/>
          </a:xfrm>
        </p:grpSpPr>
        <p:sp>
          <p:nvSpPr>
            <p:cNvPr id="11" name="Freeform 11"/>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1E5E6"/>
            </a:solidFill>
            <a:ln w="9525" cap="sq">
              <a:solidFill>
                <a:srgbClr val="A61E2D"/>
              </a:solidFill>
              <a:prstDash val="solid"/>
              <a:miter/>
            </a:ln>
          </p:spPr>
        </p:sp>
        <p:sp>
          <p:nvSpPr>
            <p:cNvPr id="12" name="TextBox 12"/>
            <p:cNvSpPr txBox="1"/>
            <p:nvPr/>
          </p:nvSpPr>
          <p:spPr>
            <a:xfrm>
              <a:off x="0" y="-38100"/>
              <a:ext cx="6604000" cy="7658100"/>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sp>
        <p:nvSpPr>
          <p:cNvPr id="14" name="TextBox 14"/>
          <p:cNvSpPr txBox="1"/>
          <p:nvPr/>
        </p:nvSpPr>
        <p:spPr>
          <a:xfrm>
            <a:off x="1476375" y="290766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Thông tin Use Case</a:t>
            </a:r>
            <a:endParaRPr sz="2800" b="1">
              <a:solidFill>
                <a:srgbClr val="A33543"/>
              </a:solidFill>
              <a:latin typeface="Times New Roman" panose="02020603050405020304" charset="0"/>
              <a:cs typeface="Times New Roman" panose="02020603050405020304" charset="0"/>
            </a:endParaRPr>
          </a:p>
        </p:txBody>
      </p:sp>
      <p:sp>
        <p:nvSpPr>
          <p:cNvPr id="15" name="TextBox 15"/>
          <p:cNvSpPr txBox="1"/>
          <p:nvPr/>
        </p:nvSpPr>
        <p:spPr>
          <a:xfrm>
            <a:off x="1476375" y="3619500"/>
            <a:ext cx="4206240" cy="2381885"/>
          </a:xfrm>
          <a:prstGeom prst="rect">
            <a:avLst/>
          </a:prstGeom>
        </p:spPr>
        <p:txBody>
          <a:bodyPr wrap="square" lIns="36576" tIns="18288" rIns="36576" bIns="18288" rtlCol="0" anchor="t">
            <a:spAutoFit/>
          </a:bodyPr>
          <a:lstStyle/>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Mục đích: </a:t>
            </a:r>
            <a:r>
              <a:rPr sz="2000" b="0">
                <a:solidFill>
                  <a:srgbClr val="273642"/>
                </a:solidFill>
                <a:latin typeface="Times New Roman" panose="02020603050405020304" charset="0"/>
                <a:cs typeface="Times New Roman" panose="02020603050405020304" charset="0"/>
              </a:rPr>
              <a:t>Lưu trữ thông tin của một nhân sự mới vào hệ thống phòng khám.</a:t>
            </a:r>
            <a:endParaRPr sz="2000" b="0">
              <a:solidFill>
                <a:srgbClr val="23303A"/>
              </a:solidFill>
              <a:latin typeface="Times New Roman" panose="02020603050405020304" charset="0"/>
              <a:cs typeface="Times New Roman" panose="02020603050405020304" charset="0"/>
            </a:endParaRPr>
          </a:p>
          <a:p>
            <a:pPr>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Tác nhân: </a:t>
            </a:r>
            <a:r>
              <a:rPr sz="2000" b="0">
                <a:solidFill>
                  <a:srgbClr val="273642"/>
                </a:solidFill>
                <a:latin typeface="Times New Roman" panose="02020603050405020304" charset="0"/>
                <a:cs typeface="Times New Roman" panose="02020603050405020304" charset="0"/>
              </a:rPr>
              <a:t>Quản lý.</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Tiền điều kiện: </a:t>
            </a:r>
            <a:r>
              <a:rPr sz="2000" b="0">
                <a:solidFill>
                  <a:srgbClr val="273642"/>
                </a:solidFill>
                <a:latin typeface="Times New Roman" panose="02020603050405020304" charset="0"/>
                <a:cs typeface="Times New Roman" panose="02020603050405020304" charset="0"/>
              </a:rPr>
              <a:t>Quản lý đang truy cập giao diện Quản lý thông tin nhân viên.</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Hậu điều kiện: </a:t>
            </a:r>
            <a:r>
              <a:rPr sz="2000" b="0">
                <a:solidFill>
                  <a:srgbClr val="273642"/>
                </a:solidFill>
                <a:latin typeface="Times New Roman" panose="02020603050405020304" charset="0"/>
                <a:cs typeface="Times New Roman" panose="02020603050405020304" charset="0"/>
              </a:rPr>
              <a:t>Hồ sơ nhân viên được tạo và lưu vào CSDL.</a:t>
            </a:r>
            <a:endParaRPr sz="2000" b="0">
              <a:solidFill>
                <a:srgbClr val="273642"/>
              </a:solidFill>
              <a:latin typeface="Times New Roman" panose="02020603050405020304" charset="0"/>
              <a:cs typeface="Times New Roman" panose="02020603050405020304" charset="0"/>
            </a:endParaRPr>
          </a:p>
        </p:txBody>
      </p:sp>
      <p:sp>
        <p:nvSpPr>
          <p:cNvPr id="17" name="TextBox 17"/>
          <p:cNvSpPr txBox="1"/>
          <p:nvPr/>
        </p:nvSpPr>
        <p:spPr>
          <a:xfrm>
            <a:off x="7010400" y="290766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Luồng sự kiện chính</a:t>
            </a:r>
            <a:endParaRPr sz="2800" b="1">
              <a:solidFill>
                <a:srgbClr val="A33543"/>
              </a:solidFill>
              <a:latin typeface="Times New Roman" panose="02020603050405020304" charset="0"/>
              <a:cs typeface="Times New Roman" panose="02020603050405020304" charset="0"/>
            </a:endParaRPr>
          </a:p>
        </p:txBody>
      </p:sp>
      <p:sp>
        <p:nvSpPr>
          <p:cNvPr id="18" name="TextBox 18"/>
          <p:cNvSpPr txBox="1"/>
          <p:nvPr/>
        </p:nvSpPr>
        <p:spPr>
          <a:xfrm>
            <a:off x="7000875" y="3619500"/>
            <a:ext cx="4206240" cy="4262120"/>
          </a:xfrm>
          <a:prstGeom prst="rect">
            <a:avLst/>
          </a:prstGeom>
        </p:spPr>
        <p:txBody>
          <a:bodyPr wrap="square" lIns="36576" tIns="18288" rIns="36576" bIns="18288" rtlCol="0" anchor="t">
            <a:spAutoFit/>
          </a:bodyPr>
          <a:lstStyle/>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1. Quản lý chọn nút “Thêm mới”.</a:t>
            </a:r>
            <a:endParaRPr sz="2000" b="0">
              <a:solidFill>
                <a:srgbClr val="23303A"/>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2. Hệ thống hiển thị form nhập thông tin nhân sự.</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3. Quản lý điền đầy đủ thông tin.</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4. Quản lý nhấn “Lưu”.</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5. Hệ thống kiểm tra tính hợp lệ của dữ liệu.</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6. Hệ thống kiểm tra thông tin nhân sự và mã nhân viên.</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7. Hệ thống lưu hồ sơ vào CSDL.</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8. Thông báo thêm thành công.</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9. Hiển thị danh sách nhân viên đã cập nhật.</a:t>
            </a:r>
            <a:endParaRPr sz="2000" b="0">
              <a:solidFill>
                <a:srgbClr val="273642"/>
              </a:solidFill>
              <a:latin typeface="Times New Roman" panose="02020603050405020304" charset="0"/>
              <a:cs typeface="Times New Roman" panose="02020603050405020304" charset="0"/>
            </a:endParaRPr>
          </a:p>
        </p:txBody>
      </p:sp>
      <p:sp>
        <p:nvSpPr>
          <p:cNvPr id="20" name="TextBox 20"/>
          <p:cNvSpPr txBox="1"/>
          <p:nvPr/>
        </p:nvSpPr>
        <p:spPr>
          <a:xfrm>
            <a:off x="12496800" y="290766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Luồng sự kiện phụ</a:t>
            </a:r>
            <a:endParaRPr sz="2800" b="1">
              <a:solidFill>
                <a:srgbClr val="A33543"/>
              </a:solidFill>
              <a:latin typeface="Times New Roman" panose="02020603050405020304" charset="0"/>
              <a:cs typeface="Times New Roman" panose="02020603050405020304" charset="0"/>
            </a:endParaRPr>
          </a:p>
        </p:txBody>
      </p:sp>
      <p:sp>
        <p:nvSpPr>
          <p:cNvPr id="21" name="TextBox 21"/>
          <p:cNvSpPr txBox="1"/>
          <p:nvPr/>
        </p:nvSpPr>
        <p:spPr>
          <a:xfrm>
            <a:off x="12487910" y="3619500"/>
            <a:ext cx="4206240" cy="1984375"/>
          </a:xfrm>
          <a:prstGeom prst="rect">
            <a:avLst/>
          </a:prstGeom>
        </p:spPr>
        <p:txBody>
          <a:bodyPr wrap="square" lIns="36576" tIns="18288" rIns="36576" bIns="18288" rtlCol="0" anchor="t">
            <a:spAutoFit/>
          </a:bodyPr>
          <a:lstStyle/>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Dữ liệu nhập sai hoặc còn thiếu: hệ thống hiển thị thông báo lỗi.</a:t>
            </a:r>
            <a:endParaRPr sz="2000" b="0">
              <a:solidFill>
                <a:srgbClr val="23303A"/>
              </a:solidFill>
              <a:latin typeface="Times New Roman" panose="02020603050405020304" charset="0"/>
              <a:cs typeface="Times New Roman" panose="02020603050405020304" charset="0"/>
            </a:endParaRPr>
          </a:p>
          <a:p>
            <a:pPr>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Thông tin hoặc mã nhân viên bị trùng: yêu cầu người dùng nhập lại.</a:t>
            </a:r>
            <a:endParaRPr sz="2000" b="0">
              <a:solidFill>
                <a:srgbClr val="273642"/>
              </a:solidFill>
              <a:latin typeface="Times New Roman" panose="02020603050405020304" charset="0"/>
              <a:cs typeface="Times New Roman" panose="02020603050405020304" charset="0"/>
            </a:endParaRPr>
          </a:p>
          <a:p>
            <a:pPr>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Sau khi chỉnh sửa, người dùng quay lại form và lưu lại.</a:t>
            </a:r>
            <a:endParaRPr sz="2000" b="0">
              <a:solidFill>
                <a:srgbClr val="273642"/>
              </a:solidFill>
              <a:latin typeface="Times New Roman" panose="02020603050405020304" charset="0"/>
              <a:cs typeface="Times New Roman" panose="02020603050405020304" charset="0"/>
            </a:endParaRPr>
          </a:p>
        </p:txBody>
      </p:sp>
      <p:sp>
        <p:nvSpPr>
          <p:cNvPr id="26" name="TextBox 25"/>
          <p:cNvSpPr txBox="1"/>
          <p:nvPr/>
        </p:nvSpPr>
        <p:spPr>
          <a:xfrm>
            <a:off x="17465040" y="9802368"/>
            <a:ext cx="384048" cy="201168"/>
          </a:xfrm>
          <a:prstGeom prst="rect">
            <a:avLst/>
          </a:prstGeom>
          <a:noFill/>
        </p:spPr>
        <p:txBody>
          <a:bodyPr wrap="square" lIns="0" tIns="0" rIns="0" bIns="0">
            <a:spAutoFit/>
          </a:bodyPr>
          <a:lstStyle/>
          <a:p>
            <a:r>
              <a:t>07</a:t>
            </a:r>
          </a:p>
        </p:txBody>
      </p:sp>
      <p:sp>
        <p:nvSpPr>
          <p:cNvPr id="44" name="Rounded Rectangle 43"/>
          <p:cNvSpPr/>
          <p:nvPr/>
        </p:nvSpPr>
        <p:spPr>
          <a:xfrm>
            <a:off x="1047750" y="8082915"/>
            <a:ext cx="16002000" cy="1525905"/>
          </a:xfrm>
          <a:prstGeom prst="roundRect">
            <a:avLst/>
          </a:prstGeom>
          <a:solidFill>
            <a:srgbClr val="F2F8F9"/>
          </a:solidFill>
          <a:ln w="13970">
            <a:solidFill>
              <a:srgbClr val="1F7D8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normAutofit/>
          </a:bodyPr>
          <a:lstStyle/>
          <a:p>
            <a:pPr>
              <a:spcAft>
                <a:spcPts val="300"/>
              </a:spcAft>
              <a:defRPr sz="1300">
                <a:solidFill>
                  <a:srgbClr val="263643"/>
                </a:solidFill>
                <a:latin typeface="Aptos"/>
              </a:defRPr>
            </a:pPr>
            <a:endParaRPr>
              <a:latin typeface="Times New Roman" panose="02020603050405020304" charset="0"/>
              <a:cs typeface="Times New Roman" panose="02020603050405020304" charset="0"/>
            </a:endParaRPr>
          </a:p>
        </p:txBody>
      </p:sp>
      <p:sp>
        <p:nvSpPr>
          <p:cNvPr id="22" name="Text Box 21"/>
          <p:cNvSpPr txBox="1"/>
          <p:nvPr/>
        </p:nvSpPr>
        <p:spPr>
          <a:xfrm>
            <a:off x="1219200" y="8142605"/>
            <a:ext cx="4953000" cy="460375"/>
          </a:xfrm>
          <a:prstGeom prst="rect">
            <a:avLst/>
          </a:prstGeom>
          <a:noFill/>
        </p:spPr>
        <p:txBody>
          <a:bodyPr wrap="square" rtlCol="0">
            <a:spAutoFit/>
          </a:bodyPr>
          <a:p>
            <a:pPr>
              <a:spcAft>
                <a:spcPts val="0"/>
              </a:spcAft>
            </a:pPr>
            <a:r>
              <a:rPr sz="2400" b="1">
                <a:solidFill>
                  <a:srgbClr val="FA903A"/>
                </a:solidFill>
                <a:latin typeface="Times New Roman" panose="02020603050405020304" charset="0"/>
                <a:cs typeface="Times New Roman" panose="02020603050405020304" charset="0"/>
              </a:rPr>
              <a:t>KẾT QUẢ &amp; RÀNG BUỘC</a:t>
            </a:r>
            <a:endParaRPr sz="2400" b="1">
              <a:solidFill>
                <a:srgbClr val="FA903A"/>
              </a:solidFill>
              <a:latin typeface="Times New Roman" panose="02020603050405020304" charset="0"/>
              <a:cs typeface="Times New Roman" panose="02020603050405020304" charset="0"/>
            </a:endParaRPr>
          </a:p>
        </p:txBody>
      </p:sp>
      <p:sp>
        <p:nvSpPr>
          <p:cNvPr id="23" name="Text Box 22"/>
          <p:cNvSpPr txBox="1"/>
          <p:nvPr/>
        </p:nvSpPr>
        <p:spPr>
          <a:xfrm>
            <a:off x="1219200" y="8648700"/>
            <a:ext cx="12441555" cy="640715"/>
          </a:xfrm>
          <a:prstGeom prst="rect">
            <a:avLst/>
          </a:prstGeom>
          <a:noFill/>
        </p:spPr>
        <p:txBody>
          <a:bodyPr wrap="square" lIns="27432" tIns="0" rIns="27432" bIns="0" rtlCol="0" anchor="t">
            <a:spAutoFit/>
          </a:bodyPr>
          <a:p>
            <a:pPr algn="just">
              <a:lnSpc>
                <a:spcPct val="100000"/>
              </a:lnSpc>
              <a:spcBef>
                <a:spcPts val="0"/>
              </a:spcBef>
              <a:spcAft>
                <a:spcPts val="200"/>
              </a:spcAft>
            </a:pPr>
            <a:r>
              <a:rPr sz="2000" b="0">
                <a:solidFill>
                  <a:srgbClr val="273642"/>
                </a:solidFill>
                <a:latin typeface="Times New Roman" panose="02020603050405020304" charset="0"/>
                <a:cs typeface="Times New Roman" panose="02020603050405020304" charset="0"/>
              </a:rPr>
              <a:t>Hồ sơ nhân viên được ghi nhận sau khi dữ liệu đã hợp lệ và không bị trùng thông tin.</a:t>
            </a:r>
            <a:endParaRPr sz="2000" b="1">
              <a:latin typeface="Times New Roman" panose="02020603050405020304" charset="0"/>
              <a:cs typeface="Times New Roman" panose="02020603050405020304" charset="0"/>
            </a:endParaRPr>
          </a:p>
          <a:p>
            <a:pPr>
              <a:lnSpc>
                <a:spcPct val="100000"/>
              </a:lnSpc>
              <a:spcBef>
                <a:spcPts val="0"/>
              </a:spcBef>
              <a:spcAft>
                <a:spcPts val="200"/>
              </a:spcAft>
            </a:pPr>
            <a:r>
              <a:rPr sz="2000" b="0">
                <a:solidFill>
                  <a:srgbClr val="273642"/>
                </a:solidFill>
                <a:latin typeface="Times New Roman" panose="02020603050405020304" charset="0"/>
                <a:cs typeface="Times New Roman" panose="02020603050405020304" charset="0"/>
              </a:rPr>
              <a:t>Sau khi lưu, hệ thống hiển thị danh sách nhân viên mới cập nhật.</a:t>
            </a:r>
            <a:endParaRPr sz="2000" b="0">
              <a:solidFill>
                <a:srgbClr val="273642"/>
              </a:solidFill>
              <a:latin typeface="Times New Roman" panose="02020603050405020304" charset="0"/>
              <a:cs typeface="Times New Roman" panose="02020603050405020304" charset="0"/>
            </a:endParaRPr>
          </a:p>
        </p:txBody>
      </p:sp>
      <p:sp>
        <p:nvSpPr>
          <p:cNvPr id="31" name="Rectangle 30"/>
          <p:cNvSpPr/>
          <p:nvPr/>
        </p:nvSpPr>
        <p:spPr>
          <a:xfrm>
            <a:off x="938530" y="7239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3" name="Picture 42" descr="dental_bg.png"/>
          <p:cNvPicPr>
            <a:picLocks noChangeAspect="1"/>
          </p:cNvPicPr>
          <p:nvPr/>
        </p:nvPicPr>
        <p:blipFill>
          <a:blip r:embed="rId1"/>
          <a:stretch>
            <a:fillRect/>
          </a:stretch>
        </p:blipFill>
        <p:spPr>
          <a:xfrm>
            <a:off x="0" y="0"/>
            <a:ext cx="18288000" cy="10287000"/>
          </a:xfrm>
          <a:prstGeom prst="rect">
            <a:avLst/>
          </a:prstGeom>
        </p:spPr>
      </p:pic>
      <p:sp>
        <p:nvSpPr>
          <p:cNvPr id="1042" name="Oval 41"/>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041" name="Oval 40"/>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040" name="Oval 39"/>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002" name="TextBox 2"/>
          <p:cNvSpPr txBox="1"/>
          <p:nvPr/>
        </p:nvSpPr>
        <p:spPr>
          <a:xfrm>
            <a:off x="1051560" y="647700"/>
            <a:ext cx="14287500" cy="830580"/>
          </a:xfrm>
          <a:prstGeom prst="rect">
            <a:avLst/>
          </a:prstGeom>
        </p:spPr>
        <p:txBody>
          <a:bodyPr wrap="square" lIns="73152" tIns="0" rIns="73152" bIns="0" rtlCol="0" anchor="t">
            <a:spAutoFit/>
          </a:bodyPr>
          <a:lstStyle/>
          <a:p>
            <a:pPr>
              <a:spcAft>
                <a:spcPts val="0"/>
              </a:spcAft>
            </a:pPr>
            <a:r>
              <a:rPr sz="5400" b="1">
                <a:solidFill>
                  <a:srgbClr val="142330"/>
                </a:solidFill>
                <a:latin typeface="Times New Roman" panose="02020603050405020304" charset="0"/>
                <a:cs typeface="Times New Roman" panose="02020603050405020304" charset="0"/>
              </a:rPr>
              <a:t>Đặc tả UC037: Tiếp nhận bệnh nhân</a:t>
            </a:r>
            <a:endParaRPr sz="5400" b="1">
              <a:solidFill>
                <a:srgbClr val="142330"/>
              </a:solidFill>
              <a:latin typeface="Times New Roman" panose="02020603050405020304" charset="0"/>
              <a:cs typeface="Times New Roman" panose="02020603050405020304" charset="0"/>
            </a:endParaRPr>
          </a:p>
        </p:txBody>
      </p:sp>
      <p:sp>
        <p:nvSpPr>
          <p:cNvPr id="1003" name="TextBox 3"/>
          <p:cNvSpPr txBox="1"/>
          <p:nvPr/>
        </p:nvSpPr>
        <p:spPr>
          <a:xfrm>
            <a:off x="1066800" y="1483995"/>
            <a:ext cx="14287500" cy="430530"/>
          </a:xfrm>
          <a:prstGeom prst="rect">
            <a:avLst/>
          </a:prstGeom>
        </p:spPr>
        <p:txBody>
          <a:bodyPr wrap="square" lIns="73152" tIns="0" rIns="73152" bIns="0" rtlCol="0" anchor="t">
            <a:spAutoFit/>
          </a:bodyPr>
          <a:lstStyle/>
          <a:p>
            <a:pPr>
              <a:spcAft>
                <a:spcPts val="0"/>
              </a:spcAft>
            </a:pPr>
            <a:r>
              <a:rPr sz="2800">
                <a:solidFill>
                  <a:srgbClr val="273642"/>
                </a:solidFill>
                <a:latin typeface="Times New Roman" panose="02020603050405020304" charset="0"/>
                <a:cs typeface="Times New Roman" panose="02020603050405020304" charset="0"/>
              </a:rPr>
              <a:t>Ghi nhận bệnh nhân có mặt tại phòng khám và chuyển vào hàng đợi chờ khám.</a:t>
            </a:r>
            <a:endParaRPr sz="2800">
              <a:solidFill>
                <a:srgbClr val="273642"/>
              </a:solidFill>
              <a:latin typeface="Times New Roman" panose="02020603050405020304" charset="0"/>
              <a:cs typeface="Times New Roman" panose="02020603050405020304" charset="0"/>
            </a:endParaRPr>
          </a:p>
        </p:txBody>
      </p:sp>
      <p:grpSp>
        <p:nvGrpSpPr>
          <p:cNvPr id="1004" name="Group 4"/>
          <p:cNvGrpSpPr/>
          <p:nvPr/>
        </p:nvGrpSpPr>
        <p:grpSpPr>
          <a:xfrm rot="0">
            <a:off x="1047750" y="2571750"/>
            <a:ext cx="4953000" cy="4779645"/>
            <a:chOff x="0" y="0"/>
            <a:chExt cx="6604000" cy="7620000"/>
          </a:xfrm>
        </p:grpSpPr>
        <p:sp>
          <p:nvSpPr>
            <p:cNvPr id="1005" name="Freeform 5"/>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FFFFF"/>
            </a:solidFill>
            <a:ln w="9525" cap="sq">
              <a:solidFill>
                <a:srgbClr val="D9D5CF"/>
              </a:solidFill>
              <a:prstDash val="solid"/>
              <a:miter/>
            </a:ln>
          </p:spPr>
        </p:sp>
        <p:sp>
          <p:nvSpPr>
            <p:cNvPr id="1006" name="TextBox 6"/>
            <p:cNvSpPr txBox="1"/>
            <p:nvPr/>
          </p:nvSpPr>
          <p:spPr>
            <a:xfrm>
              <a:off x="0" y="-38100"/>
              <a:ext cx="6604000" cy="7658100"/>
            </a:xfrm>
            <a:prstGeom prst="rect">
              <a:avLst/>
            </a:prstGeom>
          </p:spPr>
          <p:txBody>
            <a:bodyPr lIns="50800" tIns="50800" rIns="50800" bIns="50800" rtlCol="0" anchor="ctr"/>
            <a:lstStyle/>
            <a:p>
              <a:pPr algn="l">
                <a:lnSpc>
                  <a:spcPts val="1680"/>
                </a:lnSpc>
              </a:pPr>
              <a:endParaRPr sz="2800">
                <a:latin typeface="Times New Roman" panose="02020603050405020304" charset="0"/>
                <a:cs typeface="Times New Roman" panose="02020603050405020304" charset="0"/>
              </a:endParaRPr>
            </a:p>
          </p:txBody>
        </p:sp>
      </p:grpSp>
      <p:grpSp>
        <p:nvGrpSpPr>
          <p:cNvPr id="1007" name="Group 7"/>
          <p:cNvGrpSpPr/>
          <p:nvPr/>
        </p:nvGrpSpPr>
        <p:grpSpPr>
          <a:xfrm rot="0">
            <a:off x="6572250" y="2571750"/>
            <a:ext cx="4953000" cy="4779645"/>
            <a:chOff x="0" y="0"/>
            <a:chExt cx="6604000" cy="7620000"/>
          </a:xfrm>
        </p:grpSpPr>
        <p:sp>
          <p:nvSpPr>
            <p:cNvPr id="1008" name="Freeform 8"/>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FFFFF"/>
            </a:solidFill>
            <a:ln w="9525" cap="sq">
              <a:solidFill>
                <a:srgbClr val="D9D5CF"/>
              </a:solidFill>
              <a:prstDash val="solid"/>
              <a:miter/>
            </a:ln>
          </p:spPr>
        </p:sp>
        <p:sp>
          <p:nvSpPr>
            <p:cNvPr id="1009" name="TextBox 9"/>
            <p:cNvSpPr txBox="1"/>
            <p:nvPr/>
          </p:nvSpPr>
          <p:spPr>
            <a:xfrm>
              <a:off x="0" y="-38100"/>
              <a:ext cx="6604000" cy="7658100"/>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grpSp>
        <p:nvGrpSpPr>
          <p:cNvPr id="1010" name="Group 10"/>
          <p:cNvGrpSpPr/>
          <p:nvPr/>
        </p:nvGrpSpPr>
        <p:grpSpPr>
          <a:xfrm rot="0">
            <a:off x="12096750" y="2543175"/>
            <a:ext cx="4953000" cy="4808855"/>
            <a:chOff x="0" y="-38100"/>
            <a:chExt cx="6604000" cy="7658100"/>
          </a:xfrm>
        </p:grpSpPr>
        <p:sp>
          <p:nvSpPr>
            <p:cNvPr id="1011" name="Freeform 11"/>
            <p:cNvSpPr/>
            <p:nvPr/>
          </p:nvSpPr>
          <p:spPr>
            <a:xfrm>
              <a:off x="0" y="0"/>
              <a:ext cx="6604000" cy="7620000"/>
            </a:xfrm>
            <a:custGeom>
              <a:avLst/>
              <a:gdLst/>
              <a:ahLst/>
              <a:cxnLst/>
              <a:rect l="l" t="t" r="r" b="b"/>
              <a:pathLst>
                <a:path w="6604000" h="7620000">
                  <a:moveTo>
                    <a:pt x="0" y="0"/>
                  </a:moveTo>
                  <a:lnTo>
                    <a:pt x="6604000" y="0"/>
                  </a:lnTo>
                  <a:lnTo>
                    <a:pt x="6604000" y="7620000"/>
                  </a:lnTo>
                  <a:lnTo>
                    <a:pt x="0" y="7620000"/>
                  </a:lnTo>
                  <a:close/>
                </a:path>
              </a:pathLst>
            </a:custGeom>
            <a:solidFill>
              <a:srgbClr val="F1E5E6"/>
            </a:solidFill>
            <a:ln w="9525" cap="sq">
              <a:solidFill>
                <a:srgbClr val="A61E2D"/>
              </a:solidFill>
              <a:prstDash val="solid"/>
              <a:miter/>
            </a:ln>
          </p:spPr>
        </p:sp>
        <p:sp>
          <p:nvSpPr>
            <p:cNvPr id="1012" name="TextBox 12"/>
            <p:cNvSpPr txBox="1"/>
            <p:nvPr/>
          </p:nvSpPr>
          <p:spPr>
            <a:xfrm>
              <a:off x="0" y="-38100"/>
              <a:ext cx="6604000" cy="5946987"/>
            </a:xfrm>
            <a:prstGeom prst="rect">
              <a:avLst/>
            </a:prstGeom>
          </p:spPr>
          <p:txBody>
            <a:bodyPr lIns="50800" tIns="50800" rIns="50800" bIns="50800" rtlCol="0" anchor="ctr"/>
            <a:lstStyle/>
            <a:p>
              <a:pPr algn="l">
                <a:lnSpc>
                  <a:spcPts val="1680"/>
                </a:lnSpc>
              </a:pPr>
              <a:endParaRPr>
                <a:latin typeface="Times New Roman" panose="02020603050405020304" charset="0"/>
                <a:cs typeface="Times New Roman" panose="02020603050405020304" charset="0"/>
              </a:endParaRPr>
            </a:p>
          </p:txBody>
        </p:sp>
      </p:grpSp>
      <p:sp>
        <p:nvSpPr>
          <p:cNvPr id="1014" name="TextBox 14"/>
          <p:cNvSpPr txBox="1"/>
          <p:nvPr/>
        </p:nvSpPr>
        <p:spPr>
          <a:xfrm>
            <a:off x="1489075" y="289115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Thông tin Use Case</a:t>
            </a:r>
            <a:endParaRPr sz="2800" b="1">
              <a:solidFill>
                <a:srgbClr val="A33543"/>
              </a:solidFill>
              <a:latin typeface="Times New Roman" panose="02020603050405020304" charset="0"/>
              <a:cs typeface="Times New Roman" panose="02020603050405020304" charset="0"/>
            </a:endParaRPr>
          </a:p>
        </p:txBody>
      </p:sp>
      <p:sp>
        <p:nvSpPr>
          <p:cNvPr id="1015" name="TextBox 15"/>
          <p:cNvSpPr txBox="1"/>
          <p:nvPr/>
        </p:nvSpPr>
        <p:spPr>
          <a:xfrm>
            <a:off x="1476375" y="3619500"/>
            <a:ext cx="4206240" cy="2997835"/>
          </a:xfrm>
          <a:prstGeom prst="rect">
            <a:avLst/>
          </a:prstGeom>
        </p:spPr>
        <p:txBody>
          <a:bodyPr wrap="square" lIns="36576" tIns="18288" rIns="36576" bIns="18288" rtlCol="0" anchor="t">
            <a:spAutoFit/>
          </a:bodyPr>
          <a:lstStyle/>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Mục đích: </a:t>
            </a:r>
            <a:r>
              <a:rPr sz="2000" b="0">
                <a:solidFill>
                  <a:srgbClr val="273642"/>
                </a:solidFill>
                <a:latin typeface="Times New Roman" panose="02020603050405020304" charset="0"/>
                <a:cs typeface="Times New Roman" panose="02020603050405020304" charset="0"/>
              </a:rPr>
              <a:t>Ghi nhận sự có mặt thực tế của bệnh nhân để đưa vào hàng đợi chờ khám.</a:t>
            </a:r>
            <a:endParaRPr sz="2000" b="0">
              <a:solidFill>
                <a:srgbClr val="23303A"/>
              </a:solidFill>
              <a:latin typeface="Times New Roman" panose="02020603050405020304" charset="0"/>
              <a:cs typeface="Times New Roman" panose="02020603050405020304" charset="0"/>
            </a:endParaRPr>
          </a:p>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Tác nhân: </a:t>
            </a:r>
            <a:r>
              <a:rPr sz="2000" b="0">
                <a:solidFill>
                  <a:srgbClr val="273642"/>
                </a:solidFill>
                <a:latin typeface="Times New Roman" panose="02020603050405020304" charset="0"/>
                <a:cs typeface="Times New Roman" panose="02020603050405020304" charset="0"/>
              </a:rPr>
              <a:t>Lễ tân / Nhân viên tiếp nhận.</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Tiền điều kiện: </a:t>
            </a:r>
            <a:r>
              <a:rPr sz="2000" b="0">
                <a:solidFill>
                  <a:srgbClr val="273642"/>
                </a:solidFill>
                <a:latin typeface="Times New Roman" panose="02020603050405020304" charset="0"/>
                <a:cs typeface="Times New Roman" panose="02020603050405020304" charset="0"/>
              </a:rPr>
              <a:t>Bệnh nhân đã có mặt tại quầy lễ tân.</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500"/>
              </a:spcAft>
            </a:pPr>
            <a:r>
              <a:rPr sz="2000" b="1">
                <a:solidFill>
                  <a:srgbClr val="273642"/>
                </a:solidFill>
                <a:latin typeface="Times New Roman" panose="02020603050405020304" charset="0"/>
                <a:cs typeface="Times New Roman" panose="02020603050405020304" charset="0"/>
              </a:rPr>
              <a:t>Hậu điều kiện: </a:t>
            </a:r>
            <a:r>
              <a:rPr sz="2000" b="0">
                <a:solidFill>
                  <a:srgbClr val="273642"/>
                </a:solidFill>
                <a:latin typeface="Times New Roman" panose="02020603050405020304" charset="0"/>
                <a:cs typeface="Times New Roman" panose="02020603050405020304" charset="0"/>
              </a:rPr>
              <a:t>Trạng thái hồ sơ được cập nhật và bệnh nhân vào luồng chờ khám tương ứng.</a:t>
            </a:r>
            <a:endParaRPr sz="2000" b="0">
              <a:solidFill>
                <a:srgbClr val="273642"/>
              </a:solidFill>
              <a:latin typeface="Times New Roman" panose="02020603050405020304" charset="0"/>
              <a:cs typeface="Times New Roman" panose="02020603050405020304" charset="0"/>
            </a:endParaRPr>
          </a:p>
        </p:txBody>
      </p:sp>
      <p:sp>
        <p:nvSpPr>
          <p:cNvPr id="1017" name="TextBox 17"/>
          <p:cNvSpPr txBox="1"/>
          <p:nvPr/>
        </p:nvSpPr>
        <p:spPr>
          <a:xfrm>
            <a:off x="7000875" y="2922270"/>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Luồng sự kiện chính</a:t>
            </a:r>
            <a:endParaRPr sz="2800" b="1">
              <a:solidFill>
                <a:srgbClr val="A33543"/>
              </a:solidFill>
              <a:latin typeface="Times New Roman" panose="02020603050405020304" charset="0"/>
              <a:cs typeface="Times New Roman" panose="02020603050405020304" charset="0"/>
            </a:endParaRPr>
          </a:p>
        </p:txBody>
      </p:sp>
      <p:sp>
        <p:nvSpPr>
          <p:cNvPr id="1018" name="TextBox 18"/>
          <p:cNvSpPr txBox="1"/>
          <p:nvPr/>
        </p:nvSpPr>
        <p:spPr>
          <a:xfrm>
            <a:off x="7000875" y="3619500"/>
            <a:ext cx="4206240" cy="3282315"/>
          </a:xfrm>
          <a:prstGeom prst="rect">
            <a:avLst/>
          </a:prstGeom>
        </p:spPr>
        <p:txBody>
          <a:bodyPr wrap="square" lIns="36576" tIns="18288" rIns="36576" bIns="18288" rtlCol="0" anchor="t">
            <a:spAutoFit/>
          </a:bodyPr>
          <a:lstStyle/>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1. Lễ tân tra cứu hồ sơ bệnh nhân.</a:t>
            </a:r>
            <a:endParaRPr sz="2000" b="0">
              <a:solidFill>
                <a:srgbClr val="23303A"/>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2. Hệ thống hiển thị thông tin hồ sơ.</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3. Lễ tân nhấn nút “Tiếp nhận”.</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4. Hệ thống tự động kiểm tra lịch hẹn.</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5. Nếu có lịch hẹn, hệ thống thực hiện check-in nhanh.</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6. Hệ thống chuyển bệnh nhân sang luồng chờ khám.</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220"/>
              </a:spcAft>
            </a:pPr>
            <a:r>
              <a:rPr sz="2000" b="0">
                <a:solidFill>
                  <a:srgbClr val="273642"/>
                </a:solidFill>
                <a:latin typeface="Times New Roman" panose="02020603050405020304" charset="0"/>
                <a:cs typeface="Times New Roman" panose="02020603050405020304" charset="0"/>
              </a:rPr>
              <a:t>7. Hệ thống thông báo tiếp nhận thành công.</a:t>
            </a:r>
            <a:endParaRPr sz="2000" b="0">
              <a:solidFill>
                <a:srgbClr val="273642"/>
              </a:solidFill>
              <a:latin typeface="Times New Roman" panose="02020603050405020304" charset="0"/>
              <a:cs typeface="Times New Roman" panose="02020603050405020304" charset="0"/>
            </a:endParaRPr>
          </a:p>
        </p:txBody>
      </p:sp>
      <p:sp>
        <p:nvSpPr>
          <p:cNvPr id="1020" name="TextBox 20"/>
          <p:cNvSpPr txBox="1"/>
          <p:nvPr/>
        </p:nvSpPr>
        <p:spPr>
          <a:xfrm>
            <a:off x="12573000" y="2891155"/>
            <a:ext cx="4095750" cy="430530"/>
          </a:xfrm>
          <a:prstGeom prst="rect">
            <a:avLst/>
          </a:prstGeom>
        </p:spPr>
        <p:txBody>
          <a:bodyPr wrap="square" lIns="73152" tIns="0" rIns="73152" bIns="0" rtlCol="0" anchor="t">
            <a:spAutoFit/>
          </a:bodyPr>
          <a:lstStyle/>
          <a:p>
            <a:pPr>
              <a:spcAft>
                <a:spcPts val="0"/>
              </a:spcAft>
            </a:pPr>
            <a:r>
              <a:rPr sz="2800" b="1">
                <a:solidFill>
                  <a:srgbClr val="A33543"/>
                </a:solidFill>
                <a:latin typeface="Times New Roman" panose="02020603050405020304" charset="0"/>
                <a:cs typeface="Times New Roman" panose="02020603050405020304" charset="0"/>
              </a:rPr>
              <a:t>Luồng sự kiện phụ</a:t>
            </a:r>
            <a:endParaRPr sz="2800" b="1">
              <a:solidFill>
                <a:srgbClr val="A33543"/>
              </a:solidFill>
              <a:latin typeface="Times New Roman" panose="02020603050405020304" charset="0"/>
              <a:cs typeface="Times New Roman" panose="02020603050405020304" charset="0"/>
            </a:endParaRPr>
          </a:p>
        </p:txBody>
      </p:sp>
      <p:sp>
        <p:nvSpPr>
          <p:cNvPr id="1021" name="TextBox 21"/>
          <p:cNvSpPr txBox="1"/>
          <p:nvPr/>
        </p:nvSpPr>
        <p:spPr>
          <a:xfrm>
            <a:off x="12562840" y="3543300"/>
            <a:ext cx="4206240" cy="2600325"/>
          </a:xfrm>
          <a:prstGeom prst="rect">
            <a:avLst/>
          </a:prstGeom>
        </p:spPr>
        <p:txBody>
          <a:bodyPr wrap="square" lIns="36576" tIns="18288" rIns="36576" bIns="18288" rtlCol="0" anchor="t">
            <a:spAutoFit/>
          </a:bodyPr>
          <a:lstStyle/>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Không có lịch hẹn: hệ thống yêu cầu khai báo chuyên khoa; lễ tân chọn chuyên khoa và xác nhận.</a:t>
            </a:r>
            <a:endParaRPr sz="2000" b="0">
              <a:solidFill>
                <a:srgbClr val="23303A"/>
              </a:solidFill>
              <a:latin typeface="Times New Roman" panose="02020603050405020304" charset="0"/>
              <a:cs typeface="Times New Roman" panose="02020603050405020304" charset="0"/>
            </a:endParaRPr>
          </a:p>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Hệ thống ghi nhận dữ liệu khách vãng lai rồi chuyển sang luồng chờ khám.</a:t>
            </a:r>
            <a:endParaRPr sz="2000" b="0">
              <a:solidFill>
                <a:srgbClr val="273642"/>
              </a:solidFill>
              <a:latin typeface="Times New Roman" panose="02020603050405020304" charset="0"/>
              <a:cs typeface="Times New Roman" panose="02020603050405020304" charset="0"/>
            </a:endParaRPr>
          </a:p>
          <a:p>
            <a:pPr algn="just">
              <a:lnSpc>
                <a:spcPct val="100000"/>
              </a:lnSpc>
              <a:spcBef>
                <a:spcPts val="0"/>
              </a:spcBef>
              <a:spcAft>
                <a:spcPts val="400"/>
              </a:spcAft>
            </a:pPr>
            <a:r>
              <a:rPr sz="2000" b="0">
                <a:solidFill>
                  <a:srgbClr val="273642"/>
                </a:solidFill>
                <a:latin typeface="Times New Roman" panose="02020603050405020304" charset="0"/>
                <a:cs typeface="Times New Roman" panose="02020603050405020304" charset="0"/>
              </a:rPr>
              <a:t>• Không tìm thấy hồ sơ: thông báo và yêu cầu tạo hồ sơ bệnh nhân mới theo UC tương ứng.</a:t>
            </a:r>
            <a:endParaRPr sz="2000" b="0">
              <a:solidFill>
                <a:srgbClr val="273642"/>
              </a:solidFill>
              <a:latin typeface="Times New Roman" panose="02020603050405020304" charset="0"/>
              <a:cs typeface="Times New Roman" panose="02020603050405020304" charset="0"/>
            </a:endParaRPr>
          </a:p>
        </p:txBody>
      </p:sp>
      <p:sp>
        <p:nvSpPr>
          <p:cNvPr id="1026" name="TextBox 25"/>
          <p:cNvSpPr txBox="1"/>
          <p:nvPr/>
        </p:nvSpPr>
        <p:spPr>
          <a:xfrm>
            <a:off x="17465040" y="9802368"/>
            <a:ext cx="384048" cy="201168"/>
          </a:xfrm>
          <a:prstGeom prst="rect">
            <a:avLst/>
          </a:prstGeom>
          <a:noFill/>
        </p:spPr>
        <p:txBody>
          <a:bodyPr wrap="square" lIns="0" tIns="0" rIns="0" bIns="0">
            <a:spAutoFit/>
          </a:bodyPr>
          <a:lstStyle/>
          <a:p>
            <a:r>
              <a:rPr sz="1000">
                <a:solidFill>
                  <a:srgbClr val="142330"/>
                </a:solidFill>
                <a:latin typeface="Times New Roman" panose="02020603050405020304" charset="0"/>
                <a:cs typeface="Times New Roman" panose="02020603050405020304" charset="0"/>
              </a:rPr>
              <a:t>08</a:t>
            </a:r>
            <a:endParaRPr sz="1000">
              <a:solidFill>
                <a:srgbClr val="142330"/>
              </a:solidFill>
              <a:latin typeface="Times New Roman" panose="02020603050405020304" charset="0"/>
              <a:cs typeface="Times New Roman" panose="02020603050405020304" charset="0"/>
            </a:endParaRPr>
          </a:p>
        </p:txBody>
      </p:sp>
      <p:sp>
        <p:nvSpPr>
          <p:cNvPr id="1044" name="Rounded Rectangle 43"/>
          <p:cNvSpPr/>
          <p:nvPr/>
        </p:nvSpPr>
        <p:spPr>
          <a:xfrm>
            <a:off x="1047750" y="7734300"/>
            <a:ext cx="16002000" cy="1619250"/>
          </a:xfrm>
          <a:prstGeom prst="roundRect">
            <a:avLst/>
          </a:prstGeom>
          <a:solidFill>
            <a:srgbClr val="F2F8F9"/>
          </a:solidFill>
          <a:ln w="13970">
            <a:solidFill>
              <a:srgbClr val="1F7D8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normAutofit/>
          </a:bodyPr>
          <a:lstStyle/>
          <a:p>
            <a:pPr algn="l">
              <a:spcAft>
                <a:spcPts val="500"/>
              </a:spcAft>
              <a:defRPr sz="1500" b="1">
                <a:solidFill>
                  <a:srgbClr val="183752"/>
                </a:solidFill>
                <a:latin typeface="Aptos Display"/>
              </a:defRPr>
            </a:pPr>
            <a:r>
              <a:rPr sz="2000">
                <a:latin typeface="Times New Roman" panose="02020603050405020304" charset="0"/>
                <a:cs typeface="Times New Roman" panose="02020603050405020304" charset="0"/>
              </a:rPr>
              <a:t>
</a:t>
            </a:r>
            <a:endParaRPr sz="1500">
              <a:latin typeface="Times New Roman" panose="02020603050405020304" charset="0"/>
              <a:cs typeface="Times New Roman" panose="02020603050405020304" charset="0"/>
            </a:endParaRPr>
          </a:p>
          <a:p>
            <a:pPr>
              <a:spcAft>
                <a:spcPts val="300"/>
              </a:spcAft>
              <a:defRPr sz="1300">
                <a:solidFill>
                  <a:srgbClr val="263643"/>
                </a:solidFill>
                <a:latin typeface="Aptos"/>
              </a:defRPr>
            </a:pPr>
            <a:endParaRPr>
              <a:latin typeface="Times New Roman" panose="02020603050405020304" charset="0"/>
              <a:cs typeface="Times New Roman" panose="02020603050405020304" charset="0"/>
            </a:endParaRPr>
          </a:p>
        </p:txBody>
      </p:sp>
      <p:sp>
        <p:nvSpPr>
          <p:cNvPr id="1023" name="Text Box 22"/>
          <p:cNvSpPr txBox="1"/>
          <p:nvPr/>
        </p:nvSpPr>
        <p:spPr>
          <a:xfrm>
            <a:off x="1295400" y="7886700"/>
            <a:ext cx="7103745" cy="460375"/>
          </a:xfrm>
          <a:prstGeom prst="rect">
            <a:avLst/>
          </a:prstGeom>
          <a:noFill/>
        </p:spPr>
        <p:txBody>
          <a:bodyPr wrap="square" rtlCol="0">
            <a:spAutoFit/>
          </a:bodyPr>
          <a:p>
            <a:pPr>
              <a:spcAft>
                <a:spcPts val="0"/>
              </a:spcAft>
            </a:pPr>
            <a:r>
              <a:rPr sz="2400" b="1">
                <a:solidFill>
                  <a:srgbClr val="FA903A"/>
                </a:solidFill>
                <a:latin typeface="Times New Roman" panose="02020603050405020304" charset="0"/>
                <a:cs typeface="Times New Roman" panose="02020603050405020304" charset="0"/>
              </a:rPr>
              <a:t>RÀNG BUỘC TIẾP NHẬN</a:t>
            </a:r>
            <a:endParaRPr sz="2400" b="1">
              <a:solidFill>
                <a:srgbClr val="FA903A"/>
              </a:solidFill>
              <a:latin typeface="Times New Roman" panose="02020603050405020304" charset="0"/>
              <a:cs typeface="Times New Roman" panose="02020603050405020304" charset="0"/>
            </a:endParaRPr>
          </a:p>
        </p:txBody>
      </p:sp>
      <p:sp>
        <p:nvSpPr>
          <p:cNvPr id="1024" name="Text Box 23"/>
          <p:cNvSpPr txBox="1"/>
          <p:nvPr/>
        </p:nvSpPr>
        <p:spPr>
          <a:xfrm>
            <a:off x="1295400" y="8444865"/>
            <a:ext cx="10370820" cy="640715"/>
          </a:xfrm>
          <a:prstGeom prst="rect">
            <a:avLst/>
          </a:prstGeom>
          <a:noFill/>
        </p:spPr>
        <p:txBody>
          <a:bodyPr wrap="square" lIns="27432" tIns="0" rIns="27432" bIns="0" rtlCol="0" anchor="t">
            <a:spAutoFit/>
          </a:bodyPr>
          <a:p>
            <a:pPr>
              <a:lnSpc>
                <a:spcPct val="100000"/>
              </a:lnSpc>
              <a:spcBef>
                <a:spcPts val="0"/>
              </a:spcBef>
              <a:spcAft>
                <a:spcPts val="200"/>
              </a:spcAft>
            </a:pPr>
            <a:r>
              <a:rPr sz="2000" b="0">
                <a:solidFill>
                  <a:srgbClr val="273642"/>
                </a:solidFill>
                <a:latin typeface="Times New Roman" panose="02020603050405020304" charset="0"/>
                <a:cs typeface="Times New Roman" panose="02020603050405020304" charset="0"/>
              </a:rPr>
              <a:t>Phải xác định đúng hồ sơ trước khi tiếp nhận. Không tạo lượt tiếp nhận gắn với hồ sơ không hợp lệ.</a:t>
            </a:r>
            <a:endParaRPr lang="en-US" sz="2000">
              <a:latin typeface="Times New Roman" panose="02020603050405020304" charset="0"/>
              <a:cs typeface="Times New Roman" panose="02020603050405020304" charset="0"/>
            </a:endParaRPr>
          </a:p>
          <a:p>
            <a:pPr>
              <a:lnSpc>
                <a:spcPct val="100000"/>
              </a:lnSpc>
              <a:spcBef>
                <a:spcPts val="0"/>
              </a:spcBef>
              <a:spcAft>
                <a:spcPts val="200"/>
              </a:spcAft>
            </a:pPr>
            <a:r>
              <a:rPr sz="2000" b="0">
                <a:solidFill>
                  <a:srgbClr val="273642"/>
                </a:solidFill>
                <a:latin typeface="Times New Roman" panose="02020603050405020304" charset="0"/>
                <a:cs typeface="Times New Roman" panose="02020603050405020304" charset="0"/>
              </a:rPr>
              <a:t>Khách vãng lai cần khai báo chuyên khoa; mọi lượt hợp lệ được chuyển vào luồng chờ khám.</a:t>
            </a:r>
            <a:endParaRPr sz="2000" b="0">
              <a:solidFill>
                <a:srgbClr val="273642"/>
              </a:solidFill>
              <a:latin typeface="Times New Roman" panose="02020603050405020304" charset="0"/>
              <a:cs typeface="Times New Roman" panose="02020603050405020304" charset="0"/>
            </a:endParaRPr>
          </a:p>
        </p:txBody>
      </p:sp>
      <p:sp>
        <p:nvSpPr>
          <p:cNvPr id="1031" name="Rectangle 30"/>
          <p:cNvSpPr/>
          <p:nvPr/>
        </p:nvSpPr>
        <p:spPr>
          <a:xfrm>
            <a:off x="942340" y="7239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30" name="Picture 29" descr="dental_bg.png"/>
          <p:cNvPicPr>
            <a:picLocks noChangeAspect="1"/>
          </p:cNvPicPr>
          <p:nvPr/>
        </p:nvPicPr>
        <p:blipFill>
          <a:blip r:embed="rId1"/>
          <a:stretch>
            <a:fillRect/>
          </a:stretch>
        </p:blipFill>
        <p:spPr>
          <a:xfrm>
            <a:off x="0" y="0"/>
            <a:ext cx="18288000" cy="10287000"/>
          </a:xfrm>
          <a:prstGeom prst="rect">
            <a:avLst/>
          </a:prstGeom>
        </p:spPr>
      </p:pic>
      <p:sp>
        <p:nvSpPr>
          <p:cNvPr id="29" name="Oval 28"/>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2"/>
          <p:cNvSpPr txBox="1"/>
          <p:nvPr/>
        </p:nvSpPr>
        <p:spPr>
          <a:xfrm>
            <a:off x="1428750" y="2581275"/>
            <a:ext cx="13335000" cy="1162685"/>
          </a:xfrm>
          <a:prstGeom prst="rect">
            <a:avLst/>
          </a:prstGeom>
        </p:spPr>
        <p:txBody>
          <a:bodyPr wrap="square" lIns="0" tIns="0" rIns="0" bIns="0" rtlCol="0" anchor="t">
            <a:spAutoFit/>
          </a:bodyPr>
          <a:lstStyle/>
          <a:p>
            <a:pPr algn="l">
              <a:lnSpc>
                <a:spcPts val="9070"/>
              </a:lnSpc>
            </a:pPr>
            <a:r>
              <a:rPr lang="en-US" sz="8400" b="1">
                <a:solidFill>
                  <a:srgbClr val="192330"/>
                </a:solidFill>
                <a:latin typeface="Times New Roman" panose="02020603050405020304" charset="0"/>
                <a:ea typeface="Be Vietnam Ultra-Bold" panose="00000900000000000000"/>
                <a:cs typeface="Times New Roman" panose="02020603050405020304" charset="0"/>
                <a:sym typeface="Be Vietnam Ultra-Bold" panose="00000900000000000000"/>
              </a:rPr>
              <a:t>Phần thiết kế</a:t>
            </a:r>
            <a:endParaRPr lang="en-US" sz="8400" b="1">
              <a:solidFill>
                <a:srgbClr val="192330"/>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3" name="TextBox 3"/>
          <p:cNvSpPr txBox="1"/>
          <p:nvPr/>
        </p:nvSpPr>
        <p:spPr>
          <a:xfrm>
            <a:off x="1051560" y="3952875"/>
            <a:ext cx="11906250" cy="457200"/>
          </a:xfrm>
          <a:prstGeom prst="rect">
            <a:avLst/>
          </a:prstGeom>
        </p:spPr>
        <p:txBody>
          <a:bodyPr lIns="0" tIns="0" rIns="0" bIns="0" rtlCol="0" anchor="t">
            <a:spAutoFit/>
          </a:bodyPr>
          <a:lstStyle/>
          <a:p>
            <a:pPr algn="l">
              <a:lnSpc>
                <a:spcPts val="3570"/>
              </a:lnSpc>
            </a:pPr>
            <a:r>
              <a:rPr lang="en-US" sz="3200">
                <a:solidFill>
                  <a:srgbClr val="192330"/>
                </a:solidFill>
                <a:latin typeface="Times New Roman" panose="02020603050405020304" charset="0"/>
                <a:ea typeface="Noto Sans" panose="020B0502040504020204"/>
                <a:cs typeface="Times New Roman" panose="02020603050405020304" charset="0"/>
                <a:sym typeface="Noto Sans" panose="020B0502040504020204"/>
              </a:rPr>
              <a:t>Từ nghiệp vụ đến cấu trúc dữ liệu và trải nghiệm màn hình</a:t>
            </a:r>
            <a:endParaRPr lang="en-US" sz="3200">
              <a:solidFill>
                <a:srgbClr val="192330"/>
              </a:solidFill>
              <a:latin typeface="Times New Roman" panose="02020603050405020304" charset="0"/>
              <a:ea typeface="Noto Sans" panose="020B0502040504020204"/>
              <a:cs typeface="Times New Roman" panose="02020603050405020304" charset="0"/>
              <a:sym typeface="Noto Sans" panose="020B0502040504020204"/>
            </a:endParaRPr>
          </a:p>
        </p:txBody>
      </p:sp>
      <p:grpSp>
        <p:nvGrpSpPr>
          <p:cNvPr id="4" name="Group 4"/>
          <p:cNvGrpSpPr/>
          <p:nvPr/>
        </p:nvGrpSpPr>
        <p:grpSpPr>
          <a:xfrm rot="0">
            <a:off x="1476375" y="6191250"/>
            <a:ext cx="15335250" cy="38100"/>
            <a:chOff x="0" y="0"/>
            <a:chExt cx="20447000" cy="50800"/>
          </a:xfrm>
        </p:grpSpPr>
        <p:sp>
          <p:nvSpPr>
            <p:cNvPr id="5" name="Freeform 5"/>
            <p:cNvSpPr/>
            <p:nvPr/>
          </p:nvSpPr>
          <p:spPr>
            <a:xfrm>
              <a:off x="0" y="0"/>
              <a:ext cx="20447000" cy="50800"/>
            </a:xfrm>
            <a:custGeom>
              <a:avLst/>
              <a:gdLst/>
              <a:ahLst/>
              <a:cxnLst/>
              <a:rect l="l" t="t" r="r" b="b"/>
              <a:pathLst>
                <a:path w="20447000" h="50800">
                  <a:moveTo>
                    <a:pt x="0" y="0"/>
                  </a:moveTo>
                  <a:lnTo>
                    <a:pt x="20447000" y="0"/>
                  </a:lnTo>
                  <a:lnTo>
                    <a:pt x="20447000" y="50800"/>
                  </a:lnTo>
                  <a:lnTo>
                    <a:pt x="0" y="50800"/>
                  </a:lnTo>
                  <a:close/>
                </a:path>
              </a:pathLst>
            </a:custGeom>
            <a:solidFill>
              <a:srgbClr val="FFFFFF"/>
            </a:solidFill>
            <a:ln cap="sq">
              <a:noFill/>
              <a:prstDash val="solid"/>
              <a:miter/>
            </a:ln>
          </p:spPr>
        </p:sp>
        <p:sp>
          <p:nvSpPr>
            <p:cNvPr id="6" name="TextBox 6"/>
            <p:cNvSpPr txBox="1"/>
            <p:nvPr/>
          </p:nvSpPr>
          <p:spPr>
            <a:xfrm>
              <a:off x="0" y="-38100"/>
              <a:ext cx="20447000" cy="88900"/>
            </a:xfrm>
            <a:prstGeom prst="rect">
              <a:avLst/>
            </a:prstGeom>
          </p:spPr>
          <p:txBody>
            <a:bodyPr lIns="50800" tIns="50800" rIns="50800" bIns="50800" rtlCol="0" anchor="ctr"/>
            <a:lstStyle/>
            <a:p>
              <a:pPr algn="l">
                <a:lnSpc>
                  <a:spcPts val="1680"/>
                </a:lnSpc>
              </a:pPr>
            </a:p>
          </p:txBody>
        </p:sp>
      </p:grpSp>
      <p:sp>
        <p:nvSpPr>
          <p:cNvPr id="7" name="TextBox 7"/>
          <p:cNvSpPr txBox="1"/>
          <p:nvPr/>
        </p:nvSpPr>
        <p:spPr>
          <a:xfrm>
            <a:off x="1476375" y="6810375"/>
            <a:ext cx="14287500" cy="373380"/>
          </a:xfrm>
          <a:prstGeom prst="rect">
            <a:avLst/>
          </a:prstGeom>
        </p:spPr>
        <p:txBody>
          <a:bodyPr lIns="0" tIns="0" rIns="0" bIns="0" rtlCol="0" anchor="t">
            <a:spAutoFit/>
          </a:bodyPr>
          <a:lstStyle/>
          <a:p>
            <a:pPr algn="l">
              <a:lnSpc>
                <a:spcPts val="3045"/>
              </a:lnSpc>
            </a:pPr>
            <a:r>
              <a:rPr lang="en-US" sz="2175">
                <a:solidFill>
                  <a:srgbClr val="192330"/>
                </a:solidFill>
                <a:latin typeface="IBM Plex Mono" panose="020B0509050203000203"/>
                <a:ea typeface="IBM Plex Mono" panose="020B0509050203000203"/>
                <a:cs typeface="IBM Plex Mono" panose="020B0509050203000203"/>
                <a:sym typeface="IBM Plex Mono" panose="020B0509050203000203"/>
              </a:rPr>
              <a:t>01  Class Diagram     02  Database Diagram     03  Screen Flow</a:t>
            </a:r>
            <a:endParaRPr lang="en-US" sz="2175">
              <a:solidFill>
                <a:srgbClr val="192330"/>
              </a:solidFill>
              <a:latin typeface="IBM Plex Mono" panose="020B0509050203000203"/>
              <a:ea typeface="IBM Plex Mono" panose="020B0509050203000203"/>
              <a:cs typeface="IBM Plex Mono" panose="020B0509050203000203"/>
              <a:sym typeface="IBM Plex Mono" panose="020B0509050203000203"/>
            </a:endParaRPr>
          </a:p>
        </p:txBody>
      </p:sp>
      <p:sp>
        <p:nvSpPr>
          <p:cNvPr id="12" name="TextBox 11"/>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08</a:t>
            </a:r>
            <a:endParaRPr sz="900" b="1">
              <a:solidFill>
                <a:srgbClr val="111111"/>
              </a:solidFill>
              <a:latin typeface="Aptos"/>
            </a:endParaRPr>
          </a:p>
        </p:txBody>
      </p:sp>
      <p:sp>
        <p:nvSpPr>
          <p:cNvPr id="13" name="Rounded Rectangle 12"/>
          <p:cNvSpPr/>
          <p:nvPr/>
        </p:nvSpPr>
        <p:spPr>
          <a:xfrm>
            <a:off x="749808" y="1874519"/>
            <a:ext cx="960120" cy="68580"/>
          </a:xfrm>
          <a:prstGeom prst="roundRect">
            <a:avLst/>
          </a:prstGeom>
          <a:solidFill>
            <a:srgbClr val="29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 name="TextBox 3"/>
          <p:cNvSpPr txBox="1"/>
          <p:nvPr/>
        </p:nvSpPr>
        <p:spPr>
          <a:xfrm>
            <a:off x="914400" y="197485"/>
            <a:ext cx="10927080" cy="830580"/>
          </a:xfrm>
          <a:prstGeom prst="rect">
            <a:avLst/>
          </a:prstGeom>
          <a:noFill/>
        </p:spPr>
        <p:txBody>
          <a:bodyPr wrap="none" lIns="0" tIns="0" rIns="0" bIns="0">
            <a:spAutoFit/>
          </a:bodyPr>
          <a:lstStyle/>
          <a:p>
            <a:pPr algn="l">
              <a:defRPr sz="2700" b="1">
                <a:solidFill>
                  <a:srgbClr val="1E1E1E"/>
                </a:solidFill>
                <a:latin typeface="Aptos Display"/>
              </a:defRPr>
            </a:pPr>
            <a:r>
              <a:rPr sz="5400">
                <a:solidFill/>
                <a:latin typeface="Times New Roman" panose="02020603050405020304" charset="0"/>
                <a:cs typeface="Times New Roman" panose="02020603050405020304" charset="0"/>
              </a:rPr>
              <a:t>Class Diagram</a:t>
            </a:r>
            <a:r>
              <a:rPr lang="en-US" sz="5400">
                <a:solidFill/>
                <a:latin typeface="Times New Roman" panose="02020603050405020304" charset="0"/>
                <a:cs typeface="Times New Roman" panose="02020603050405020304" charset="0"/>
              </a:rPr>
              <a:t>:</a:t>
            </a:r>
            <a:r>
              <a:rPr sz="5400">
                <a:solidFill/>
                <a:latin typeface="Times New Roman" panose="02020603050405020304" charset="0"/>
                <a:cs typeface="Times New Roman" panose="02020603050405020304" charset="0"/>
              </a:rPr>
              <a:t> Mô hình lớp thực thể</a:t>
            </a:r>
            <a:endParaRPr sz="5400">
              <a:solidFill/>
              <a:latin typeface="Times New Roman" panose="02020603050405020304" charset="0"/>
              <a:cs typeface="Times New Roman" panose="02020603050405020304" charset="0"/>
            </a:endParaRPr>
          </a:p>
        </p:txBody>
      </p:sp>
      <p:sp>
        <p:nvSpPr>
          <p:cNvPr id="5" name="TextBox 4"/>
          <p:cNvSpPr txBox="1"/>
          <p:nvPr/>
        </p:nvSpPr>
        <p:spPr>
          <a:xfrm>
            <a:off x="914400" y="1028192"/>
            <a:ext cx="9596120" cy="430530"/>
          </a:xfrm>
          <a:prstGeom prst="rect">
            <a:avLst/>
          </a:prstGeom>
          <a:noFill/>
        </p:spPr>
        <p:txBody>
          <a:bodyPr wrap="none" lIns="0" tIns="0" rIns="0" bIns="0">
            <a:spAutoFit/>
          </a:bodyPr>
          <a:lstStyle/>
          <a:p>
            <a:pPr algn="l">
              <a:defRPr sz="1500">
                <a:solidFill>
                  <a:srgbClr val="5A5A5A"/>
                </a:solidFill>
                <a:latin typeface="Aptos"/>
              </a:defRPr>
            </a:pPr>
            <a:r>
              <a:rPr sz="2800">
                <a:solidFill/>
                <a:latin typeface="Times New Roman" panose="02020603050405020304" charset="0"/>
                <a:cs typeface="Times New Roman" panose="02020603050405020304" charset="0"/>
              </a:rPr>
              <a:t>Cấu trúc các lớp nghiệp vụ và mối quan hệ chính giữa các thực thể.</a:t>
            </a:r>
            <a:endParaRPr sz="2800">
              <a:solidFill/>
              <a:latin typeface="Times New Roman" panose="02020603050405020304" charset="0"/>
              <a:cs typeface="Times New Roman" panose="02020603050405020304" charset="0"/>
            </a:endParaRPr>
          </a:p>
        </p:txBody>
      </p:sp>
      <p:sp>
        <p:nvSpPr>
          <p:cNvPr id="6" name="TextBox 5"/>
          <p:cNvSpPr txBox="1"/>
          <p:nvPr/>
        </p:nvSpPr>
        <p:spPr>
          <a:xfrm>
            <a:off x="914400" y="9703753"/>
            <a:ext cx="16459200" cy="374015"/>
          </a:xfrm>
          <a:prstGeom prst="rect">
            <a:avLst/>
          </a:prstGeom>
          <a:noFill/>
        </p:spPr>
        <p:txBody>
          <a:bodyPr wrap="square" tIns="18288" bIns="18288" anchor="ctr">
            <a:spAutoFit/>
          </a:bodyPr>
          <a:lstStyle/>
          <a:p>
            <a:pPr algn="ctr">
              <a:defRPr sz="1200" i="1">
                <a:solidFill>
                  <a:srgbClr val="555555"/>
                </a:solidFill>
                <a:latin typeface="Aptos"/>
              </a:defRPr>
            </a:pPr>
            <a:r>
              <a:rPr sz="2200" b="1" i="0">
                <a:solidFill>
                  <a:srgbClr val="111111"/>
                </a:solidFill>
                <a:latin typeface="Times New Roman" panose="02020603050405020304" charset="0"/>
                <a:cs typeface="Times New Roman" panose="02020603050405020304" charset="0"/>
              </a:rPr>
              <a:t>Hình 2. Sơ đồ lớp thực thể (Class Diagram)</a:t>
            </a:r>
            <a:endParaRPr sz="2200" b="1" i="0">
              <a:solidFill>
                <a:srgbClr val="111111"/>
              </a:solidFill>
              <a:latin typeface="Times New Roman" panose="02020603050405020304" charset="0"/>
              <a:cs typeface="Times New Roman" panose="02020603050405020304" charset="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Times New Roman" panose="02020603050405020304" charset="0"/>
                <a:cs typeface="Times New Roman" panose="02020603050405020304" charset="0"/>
              </a:rPr>
              <a:t>09</a:t>
            </a:r>
            <a:endParaRPr sz="900" b="1">
              <a:solidFill>
                <a:srgbClr val="111111"/>
              </a:solidFill>
              <a:latin typeface="Times New Roman" panose="02020603050405020304" charset="0"/>
              <a:cs typeface="Times New Roman" panose="02020603050405020304" charset="0"/>
            </a:endParaRPr>
          </a:p>
        </p:txBody>
      </p:sp>
      <p:pic>
        <p:nvPicPr>
          <p:cNvPr id="7" name="Picture 6"/>
          <p:cNvPicPr>
            <a:picLocks noChangeAspect="1"/>
          </p:cNvPicPr>
          <p:nvPr/>
        </p:nvPicPr>
        <p:blipFill>
          <a:blip r:embed="rId2"/>
          <a:stretch>
            <a:fillRect/>
          </a:stretch>
        </p:blipFill>
        <p:spPr>
          <a:xfrm>
            <a:off x="2901315" y="1497330"/>
            <a:ext cx="12485370" cy="8141970"/>
          </a:xfrm>
          <a:prstGeom prst="rect">
            <a:avLst/>
          </a:prstGeom>
        </p:spPr>
      </p:pic>
      <p:sp>
        <p:nvSpPr>
          <p:cNvPr id="31" name="Rectangle 30"/>
          <p:cNvSpPr/>
          <p:nvPr/>
        </p:nvSpPr>
        <p:spPr>
          <a:xfrm>
            <a:off x="685800" y="2667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image11.png"/>
          <p:cNvPicPr>
            <a:picLocks noChangeAspect="1"/>
          </p:cNvPicPr>
          <p:nvPr/>
        </p:nvPicPr>
        <p:blipFill>
          <a:blip r:embed="rId2"/>
          <a:stretch>
            <a:fillRect/>
          </a:stretch>
        </p:blipFill>
        <p:spPr>
          <a:xfrm>
            <a:off x="4191000" y="1714500"/>
            <a:ext cx="10251440" cy="7901305"/>
          </a:xfrm>
          <a:prstGeom prst="rect">
            <a:avLst/>
          </a:prstGeom>
        </p:spPr>
      </p:pic>
      <p:sp>
        <p:nvSpPr>
          <p:cNvPr id="4" name="TextBox 3"/>
          <p:cNvSpPr txBox="1"/>
          <p:nvPr/>
        </p:nvSpPr>
        <p:spPr>
          <a:xfrm>
            <a:off x="914400" y="274320"/>
            <a:ext cx="9484995" cy="830580"/>
          </a:xfrm>
          <a:prstGeom prst="rect">
            <a:avLst/>
          </a:prstGeom>
          <a:noFill/>
        </p:spPr>
        <p:txBody>
          <a:bodyPr wrap="none" lIns="0" tIns="0" rIns="0" bIns="0">
            <a:spAutoFit/>
          </a:bodyPr>
          <a:lstStyle/>
          <a:p>
            <a:pPr algn="l">
              <a:defRPr sz="2700" b="1">
                <a:solidFill>
                  <a:srgbClr val="1E1E1E"/>
                </a:solidFill>
                <a:latin typeface="Aptos Display"/>
              </a:defRPr>
            </a:pPr>
            <a:r>
              <a:rPr sz="5400">
                <a:solidFill/>
                <a:latin typeface="Times New Roman" panose="02020603050405020304" charset="0"/>
                <a:cs typeface="Times New Roman" panose="02020603050405020304" charset="0"/>
              </a:rPr>
              <a:t>Database Diagram · SQL Server</a:t>
            </a:r>
            <a:endParaRPr sz="5400">
              <a:solidFill/>
              <a:latin typeface="Times New Roman" panose="02020603050405020304" charset="0"/>
              <a:cs typeface="Times New Roman" panose="02020603050405020304" charset="0"/>
            </a:endParaRPr>
          </a:p>
        </p:txBody>
      </p:sp>
      <p:sp>
        <p:nvSpPr>
          <p:cNvPr id="5" name="TextBox 4"/>
          <p:cNvSpPr txBox="1"/>
          <p:nvPr/>
        </p:nvSpPr>
        <p:spPr>
          <a:xfrm>
            <a:off x="914400" y="1181227"/>
            <a:ext cx="9842500" cy="430530"/>
          </a:xfrm>
          <a:prstGeom prst="rect">
            <a:avLst/>
          </a:prstGeom>
          <a:noFill/>
        </p:spPr>
        <p:txBody>
          <a:bodyPr wrap="none" lIns="0" tIns="0" rIns="0" bIns="0">
            <a:spAutoFit/>
          </a:bodyPr>
          <a:lstStyle/>
          <a:p>
            <a:pPr algn="l">
              <a:defRPr sz="1500">
                <a:solidFill>
                  <a:srgbClr val="5A5A5A"/>
                </a:solidFill>
                <a:latin typeface="Aptos"/>
              </a:defRPr>
            </a:pPr>
            <a:r>
              <a:rPr sz="2800">
                <a:solidFill/>
                <a:latin typeface="Times New Roman" panose="02020603050405020304" charset="0"/>
                <a:cs typeface="Times New Roman" panose="02020603050405020304" charset="0"/>
              </a:rPr>
              <a:t>Sơ đồ các bảng dữ liệu và liên kết khóa chính (PK), khóa ngoại (FK)</a:t>
            </a:r>
            <a:r>
              <a:rPr>
                <a:solidFill/>
                <a:latin typeface="Times New Roman" panose="02020603050405020304" charset="0"/>
                <a:cs typeface="Times New Roman" panose="02020603050405020304" charset="0"/>
              </a:rPr>
              <a:t>.</a:t>
            </a:r>
            <a:endParaRPr>
              <a:solidFill/>
              <a:latin typeface="Times New Roman" panose="02020603050405020304" charset="0"/>
              <a:cs typeface="Times New Roman" panose="02020603050405020304" charset="0"/>
            </a:endParaRPr>
          </a:p>
        </p:txBody>
      </p:sp>
      <p:sp>
        <p:nvSpPr>
          <p:cNvPr id="6" name="TextBox 5"/>
          <p:cNvSpPr txBox="1"/>
          <p:nvPr/>
        </p:nvSpPr>
        <p:spPr>
          <a:xfrm>
            <a:off x="838200" y="9718358"/>
            <a:ext cx="16459200" cy="374015"/>
          </a:xfrm>
          <a:prstGeom prst="rect">
            <a:avLst/>
          </a:prstGeom>
          <a:noFill/>
        </p:spPr>
        <p:txBody>
          <a:bodyPr wrap="square" tIns="18288" bIns="18288" anchor="ctr">
            <a:spAutoFit/>
          </a:bodyPr>
          <a:lstStyle/>
          <a:p>
            <a:pPr algn="ctr">
              <a:defRPr sz="1200" i="1">
                <a:solidFill>
                  <a:srgbClr val="555555"/>
                </a:solidFill>
                <a:latin typeface="Aptos"/>
              </a:defRPr>
            </a:pPr>
            <a:r>
              <a:rPr sz="2200" b="1" i="0">
                <a:solidFill>
                  <a:srgbClr val="111111"/>
                </a:solidFill>
                <a:latin typeface="Times New Roman" panose="02020603050405020304" charset="0"/>
                <a:cs typeface="Times New Roman" panose="02020603050405020304" charset="0"/>
              </a:rPr>
              <a:t>Hình 3. Sơ đồ cơ sở dữ liệu trên SQL Server (Database Diagram)</a:t>
            </a:r>
            <a:endParaRPr sz="2200" b="1" i="0">
              <a:solidFill>
                <a:srgbClr val="111111"/>
              </a:solidFill>
              <a:latin typeface="Times New Roman" panose="02020603050405020304" charset="0"/>
              <a:cs typeface="Times New Roman" panose="02020603050405020304" charset="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10</a:t>
            </a:r>
            <a:endParaRPr sz="900" b="1">
              <a:solidFill>
                <a:srgbClr val="111111"/>
              </a:solidFill>
              <a:latin typeface="Aptos"/>
            </a:endParaRPr>
          </a:p>
        </p:txBody>
      </p:sp>
      <p:sp>
        <p:nvSpPr>
          <p:cNvPr id="31" name="Rectangle 30"/>
          <p:cNvSpPr/>
          <p:nvPr/>
        </p:nvSpPr>
        <p:spPr>
          <a:xfrm>
            <a:off x="728980" y="387985"/>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 name="TextBox 3"/>
          <p:cNvSpPr txBox="1"/>
          <p:nvPr/>
        </p:nvSpPr>
        <p:spPr>
          <a:xfrm>
            <a:off x="914400" y="274320"/>
            <a:ext cx="11306175" cy="830580"/>
          </a:xfrm>
          <a:prstGeom prst="rect">
            <a:avLst/>
          </a:prstGeom>
          <a:noFill/>
        </p:spPr>
        <p:txBody>
          <a:bodyPr wrap="none" lIns="0" tIns="0" rIns="0" bIns="0">
            <a:spAutoFit/>
          </a:bodyPr>
          <a:lstStyle/>
          <a:p>
            <a:pPr algn="l">
              <a:defRPr sz="2700" b="1">
                <a:solidFill>
                  <a:srgbClr val="1E1E1E"/>
                </a:solidFill>
                <a:latin typeface="Aptos Display"/>
              </a:defRPr>
            </a:pPr>
            <a:r>
              <a:rPr sz="5400">
                <a:solidFill/>
                <a:latin typeface="Times New Roman" panose="02020603050405020304" charset="0"/>
                <a:cs typeface="Times New Roman" panose="02020603050405020304" charset="0"/>
              </a:rPr>
              <a:t>Screen Flow · Luồng chuyển màn hình</a:t>
            </a:r>
            <a:endParaRPr sz="5400">
              <a:solidFill/>
              <a:latin typeface="Times New Roman" panose="02020603050405020304" charset="0"/>
              <a:cs typeface="Times New Roman" panose="02020603050405020304" charset="0"/>
            </a:endParaRPr>
          </a:p>
        </p:txBody>
      </p:sp>
      <p:sp>
        <p:nvSpPr>
          <p:cNvPr id="5" name="TextBox 4"/>
          <p:cNvSpPr txBox="1"/>
          <p:nvPr/>
        </p:nvSpPr>
        <p:spPr>
          <a:xfrm>
            <a:off x="914400" y="1105027"/>
            <a:ext cx="11209020" cy="430530"/>
          </a:xfrm>
          <a:prstGeom prst="rect">
            <a:avLst/>
          </a:prstGeom>
          <a:noFill/>
        </p:spPr>
        <p:txBody>
          <a:bodyPr wrap="none" lIns="0" tIns="0" rIns="0" bIns="0">
            <a:spAutoFit/>
          </a:bodyPr>
          <a:lstStyle/>
          <a:p>
            <a:pPr algn="l">
              <a:defRPr sz="1500">
                <a:solidFill>
                  <a:srgbClr val="5A5A5A"/>
                </a:solidFill>
                <a:latin typeface="Aptos"/>
              </a:defRPr>
            </a:pPr>
            <a:r>
              <a:rPr sz="2800">
                <a:solidFill/>
                <a:latin typeface="Times New Roman" panose="02020603050405020304" charset="0"/>
                <a:cs typeface="Times New Roman" panose="02020603050405020304" charset="0"/>
              </a:rPr>
              <a:t>Luồng thao tác chính từ đăng nhập đến tiếp nhận, khám và hoàn tất thanh toán</a:t>
            </a:r>
            <a:r>
              <a:rPr>
                <a:solidFill/>
                <a:latin typeface="Times New Roman" panose="02020603050405020304" charset="0"/>
                <a:cs typeface="Times New Roman" panose="02020603050405020304" charset="0"/>
              </a:rPr>
              <a:t>.</a:t>
            </a:r>
            <a:endParaRPr>
              <a:solidFill/>
              <a:latin typeface="Times New Roman" panose="02020603050405020304" charset="0"/>
              <a:cs typeface="Times New Roman" panose="02020603050405020304" charset="0"/>
            </a:endParaRPr>
          </a:p>
        </p:txBody>
      </p:sp>
      <p:sp>
        <p:nvSpPr>
          <p:cNvPr id="6" name="TextBox 5"/>
          <p:cNvSpPr txBox="1"/>
          <p:nvPr/>
        </p:nvSpPr>
        <p:spPr>
          <a:xfrm>
            <a:off x="990600" y="9638983"/>
            <a:ext cx="16459200" cy="374015"/>
          </a:xfrm>
          <a:prstGeom prst="rect">
            <a:avLst/>
          </a:prstGeom>
          <a:noFill/>
        </p:spPr>
        <p:txBody>
          <a:bodyPr wrap="square" tIns="18288" bIns="18288" anchor="ctr">
            <a:spAutoFit/>
          </a:bodyPr>
          <a:lstStyle/>
          <a:p>
            <a:pPr algn="ctr">
              <a:defRPr sz="1200" i="1">
                <a:solidFill>
                  <a:srgbClr val="555555"/>
                </a:solidFill>
                <a:latin typeface="Aptos"/>
              </a:defRPr>
            </a:pPr>
            <a:r>
              <a:rPr sz="2200" b="1" i="0">
                <a:solidFill>
                  <a:srgbClr val="111111"/>
                </a:solidFill>
                <a:latin typeface="Times New Roman" panose="02020603050405020304" charset="0"/>
                <a:cs typeface="Times New Roman" panose="02020603050405020304" charset="0"/>
              </a:rPr>
              <a:t>Hình 4. Sơ đồ luồng chuyển màn hình (Screen Flow)</a:t>
            </a:r>
            <a:endParaRPr sz="2200" b="1" i="0">
              <a:solidFill>
                <a:srgbClr val="111111"/>
              </a:solidFill>
              <a:latin typeface="Times New Roman" panose="02020603050405020304" charset="0"/>
              <a:cs typeface="Times New Roman" panose="02020603050405020304" charset="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11</a:t>
            </a:r>
            <a:endParaRPr sz="900" b="1">
              <a:solidFill>
                <a:srgbClr val="111111"/>
              </a:solidFill>
              <a:latin typeface="Aptos"/>
            </a:endParaRPr>
          </a:p>
        </p:txBody>
      </p:sp>
      <p:sp>
        <p:nvSpPr>
          <p:cNvPr id="31" name="Rectangle 30"/>
          <p:cNvSpPr/>
          <p:nvPr/>
        </p:nvSpPr>
        <p:spPr>
          <a:xfrm>
            <a:off x="685800" y="3429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pic>
        <p:nvPicPr>
          <p:cNvPr id="3" name="Picture 2"/>
          <p:cNvPicPr>
            <a:picLocks noChangeAspect="1"/>
          </p:cNvPicPr>
          <p:nvPr/>
        </p:nvPicPr>
        <p:blipFill>
          <a:blip r:embed="rId2"/>
          <a:stretch>
            <a:fillRect/>
          </a:stretch>
        </p:blipFill>
        <p:spPr>
          <a:xfrm>
            <a:off x="2705735" y="1562100"/>
            <a:ext cx="12877165" cy="8054340"/>
          </a:xfrm>
          <a:prstGeom prst="rect">
            <a:avLst/>
          </a:prstGeom>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pic>
        <p:nvPicPr>
          <p:cNvPr id="27" name="Picture 26" descr="dental_bg.png"/>
          <p:cNvPicPr>
            <a:picLocks noChangeAspect="1"/>
          </p:cNvPicPr>
          <p:nvPr/>
        </p:nvPicPr>
        <p:blipFill>
          <a:blip r:embed="rId1"/>
          <a:stretch>
            <a:fillRect/>
          </a:stretch>
        </p:blipFill>
        <p:spPr>
          <a:xfrm>
            <a:off x="0" y="0"/>
            <a:ext cx="18288000" cy="10287000"/>
          </a:xfrm>
          <a:prstGeom prst="rect">
            <a:avLst/>
          </a:prstGeom>
        </p:spPr>
      </p:pic>
      <p:sp>
        <p:nvSpPr>
          <p:cNvPr id="26" name="Oval 25"/>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2"/>
          <p:cNvSpPr txBox="1"/>
          <p:nvPr/>
        </p:nvSpPr>
        <p:spPr>
          <a:xfrm>
            <a:off x="1428750" y="2295525"/>
            <a:ext cx="12382500" cy="2326005"/>
          </a:xfrm>
          <a:prstGeom prst="rect">
            <a:avLst/>
          </a:prstGeom>
        </p:spPr>
        <p:txBody>
          <a:bodyPr wrap="square" lIns="0" tIns="0" rIns="0" bIns="0" rtlCol="0" anchor="t">
            <a:spAutoFit/>
          </a:bodyPr>
          <a:lstStyle/>
          <a:p>
            <a:pPr algn="l">
              <a:lnSpc>
                <a:spcPts val="9070"/>
              </a:lnSpc>
            </a:pPr>
            <a:r>
              <a:rPr lang="en-US" sz="8400" b="1">
                <a:solidFill>
                  <a:srgbClr val="192330"/>
                </a:solidFill>
                <a:latin typeface="Times New Roman" panose="02020603050405020304" charset="0"/>
                <a:ea typeface="Be Vietnam Ultra-Bold" panose="00000900000000000000"/>
                <a:cs typeface="Times New Roman" panose="02020603050405020304" charset="0"/>
                <a:sym typeface="Be Vietnam Ultra-Bold" panose="00000900000000000000"/>
              </a:rPr>
              <a:t>Hiện thực</a:t>
            </a:r>
            <a:endParaRPr lang="en-US" sz="8400" b="1">
              <a:solidFill>
                <a:srgbClr val="192330"/>
              </a:solidFill>
              <a:latin typeface="Times New Roman" panose="02020603050405020304" charset="0"/>
              <a:ea typeface="Be Vietnam Ultra-Bold" panose="00000900000000000000"/>
              <a:cs typeface="Times New Roman" panose="02020603050405020304" charset="0"/>
              <a:sym typeface="Be Vietnam Ultra-Bold" panose="00000900000000000000"/>
            </a:endParaRPr>
          </a:p>
          <a:p>
            <a:pPr algn="l">
              <a:lnSpc>
                <a:spcPts val="9070"/>
              </a:lnSpc>
            </a:pPr>
            <a:r>
              <a:rPr lang="en-US" sz="8400" b="1">
                <a:solidFill>
                  <a:srgbClr val="192330"/>
                </a:solidFill>
                <a:latin typeface="Times New Roman" panose="02020603050405020304" charset="0"/>
                <a:ea typeface="Be Vietnam Ultra-Bold" panose="00000900000000000000"/>
                <a:cs typeface="Times New Roman" panose="02020603050405020304" charset="0"/>
                <a:sym typeface="Be Vietnam Ultra-Bold" panose="00000900000000000000"/>
              </a:rPr>
              <a:t>ứng dụng</a:t>
            </a:r>
            <a:endParaRPr lang="en-US" sz="8400" b="1">
              <a:solidFill>
                <a:srgbClr val="192330"/>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3" name="TextBox 3"/>
          <p:cNvSpPr txBox="1"/>
          <p:nvPr/>
        </p:nvSpPr>
        <p:spPr>
          <a:xfrm>
            <a:off x="1051560" y="4905375"/>
            <a:ext cx="11906250" cy="457200"/>
          </a:xfrm>
          <a:prstGeom prst="rect">
            <a:avLst/>
          </a:prstGeom>
        </p:spPr>
        <p:txBody>
          <a:bodyPr lIns="0" tIns="0" rIns="0" bIns="0" rtlCol="0" anchor="t">
            <a:spAutoFit/>
          </a:bodyPr>
          <a:lstStyle/>
          <a:p>
            <a:pPr algn="l">
              <a:lnSpc>
                <a:spcPts val="3570"/>
              </a:lnSpc>
            </a:pPr>
            <a:r>
              <a:rPr lang="en-US" sz="3200">
                <a:solidFill>
                  <a:srgbClr val="192330"/>
                </a:solidFill>
                <a:latin typeface="Times New Roman" panose="02020603050405020304" charset="0"/>
                <a:ea typeface="Noto Sans" panose="020B0502040504020204"/>
                <a:cs typeface="Times New Roman" panose="02020603050405020304" charset="0"/>
                <a:sym typeface="Noto Sans" panose="020B0502040504020204"/>
              </a:rPr>
              <a:t>Kiến trúc công nghệ · Màn hình minh họa · Demo luồng chính</a:t>
            </a:r>
            <a:endParaRPr lang="en-US" sz="3200">
              <a:solidFill>
                <a:srgbClr val="192330"/>
              </a:solidFill>
              <a:latin typeface="Times New Roman" panose="02020603050405020304" charset="0"/>
              <a:ea typeface="Noto Sans" panose="020B0502040504020204"/>
              <a:cs typeface="Times New Roman" panose="02020603050405020304" charset="0"/>
              <a:sym typeface="Noto Sans" panose="020B0502040504020204"/>
            </a:endParaRPr>
          </a:p>
        </p:txBody>
      </p:sp>
      <p:sp>
        <p:nvSpPr>
          <p:cNvPr id="4" name="TextBox 4"/>
          <p:cNvSpPr txBox="1"/>
          <p:nvPr/>
        </p:nvSpPr>
        <p:spPr>
          <a:xfrm>
            <a:off x="1476375" y="7305675"/>
            <a:ext cx="11430000" cy="322580"/>
          </a:xfrm>
          <a:prstGeom prst="rect">
            <a:avLst/>
          </a:prstGeom>
        </p:spPr>
        <p:txBody>
          <a:bodyPr lIns="0" tIns="0" rIns="0" bIns="0" rtlCol="0" anchor="t">
            <a:spAutoFit/>
          </a:bodyPr>
          <a:lstStyle/>
          <a:p>
            <a:pPr algn="l">
              <a:lnSpc>
                <a:spcPts val="2520"/>
              </a:lnSpc>
            </a:pPr>
            <a:r>
              <a:rPr lang="en-US" sz="1800" b="1" spc="179">
                <a:solidFill>
                  <a:srgbClr val="192330"/>
                </a:solidFill>
                <a:latin typeface="Times New Roman" panose="02020603050405020304" charset="0"/>
                <a:ea typeface="Noto Sans Bold" panose="020B0802040504020204"/>
                <a:cs typeface="Times New Roman" panose="02020603050405020304" charset="0"/>
                <a:sym typeface="Noto Sans Bold" panose="020B0802040504020204"/>
              </a:rPr>
              <a:t>TỪ THIẾT KẾ ĐẾN SẢN PHẨM CÓ THỂ KIỂM CHỨNG</a:t>
            </a:r>
            <a:endParaRPr lang="en-US" sz="1800" b="1" spc="179">
              <a:solidFill>
                <a:srgbClr val="192330"/>
              </a:solidFill>
              <a:latin typeface="Times New Roman" panose="02020603050405020304" charset="0"/>
              <a:ea typeface="Noto Sans Bold" panose="020B0802040504020204"/>
              <a:cs typeface="Times New Roman" panose="02020603050405020304" charset="0"/>
              <a:sym typeface="Noto Sans Bold" panose="020B0802040504020204"/>
            </a:endParaRPr>
          </a:p>
        </p:txBody>
      </p:sp>
      <p:sp>
        <p:nvSpPr>
          <p:cNvPr id="9" name="TextBox 8"/>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12</a:t>
            </a:r>
            <a:endParaRPr sz="900" b="1">
              <a:solidFill>
                <a:srgbClr val="111111"/>
              </a:solidFill>
              <a:latin typeface="Aptos"/>
            </a:endParaRPr>
          </a:p>
        </p:txBody>
      </p:sp>
      <p:sp>
        <p:nvSpPr>
          <p:cNvPr id="10" name="Rounded Rectangle 9"/>
          <p:cNvSpPr/>
          <p:nvPr/>
        </p:nvSpPr>
        <p:spPr>
          <a:xfrm>
            <a:off x="749808" y="1874519"/>
            <a:ext cx="960120" cy="68580"/>
          </a:xfrm>
          <a:prstGeom prst="roundRect">
            <a:avLst/>
          </a:prstGeom>
          <a:solidFill>
            <a:srgbClr val="29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descr="dental_bg.png"/>
          <p:cNvPicPr>
            <a:picLocks noChangeAspect="1"/>
          </p:cNvPicPr>
          <p:nvPr/>
        </p:nvPicPr>
        <p:blipFill>
          <a:blip r:embed="rId1"/>
          <a:stretch>
            <a:fillRect/>
          </a:stretch>
        </p:blipFill>
        <p:spPr>
          <a:xfrm>
            <a:off x="0" y="-38100"/>
            <a:ext cx="18288000" cy="10287000"/>
          </a:xfrm>
          <a:prstGeom prst="rect">
            <a:avLst/>
          </a:prstGeom>
        </p:spPr>
      </p:pic>
      <p:sp>
        <p:nvSpPr>
          <p:cNvPr id="44" name="Oval 43"/>
          <p:cNvSpPr/>
          <p:nvPr/>
        </p:nvSpPr>
        <p:spPr>
          <a:xfrm>
            <a:off x="17172305" y="302514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3" name="Oval 42"/>
          <p:cNvSpPr/>
          <p:nvPr/>
        </p:nvSpPr>
        <p:spPr>
          <a:xfrm>
            <a:off x="17675225" y="275082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2" name="Oval 41"/>
          <p:cNvSpPr/>
          <p:nvPr/>
        </p:nvSpPr>
        <p:spPr>
          <a:xfrm>
            <a:off x="17355185" y="243078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 name="TextBox 2"/>
          <p:cNvSpPr txBox="1"/>
          <p:nvPr/>
        </p:nvSpPr>
        <p:spPr>
          <a:xfrm>
            <a:off x="1051560" y="647700"/>
            <a:ext cx="14287500" cy="602615"/>
          </a:xfrm>
          <a:prstGeom prst="rect">
            <a:avLst/>
          </a:prstGeom>
        </p:spPr>
        <p:txBody>
          <a:bodyPr lIns="0" tIns="0" rIns="0" bIns="0" rtlCol="0" anchor="t">
            <a:spAutoFit/>
          </a:bodyPr>
          <a:lstStyle/>
          <a:p>
            <a:pPr algn="l">
              <a:lnSpc>
                <a:spcPts val="4700"/>
              </a:lnSpc>
            </a:pPr>
            <a:r>
              <a:rPr 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Công nghệ sử dụng</a:t>
            </a:r>
            <a:endParaRPr 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3" name="TextBox 3"/>
          <p:cNvSpPr txBox="1"/>
          <p:nvPr/>
        </p:nvSpPr>
        <p:spPr>
          <a:xfrm>
            <a:off x="1051560" y="1409700"/>
            <a:ext cx="14287500" cy="430530"/>
          </a:xfrm>
          <a:prstGeom prst="rect">
            <a:avLst/>
          </a:prstGeom>
        </p:spPr>
        <p:txBody>
          <a:bodyPr lIns="0" tIns="0" rIns="0" bIns="0" rtlCol="0" anchor="t">
            <a:spAutoFit/>
          </a:bodyPr>
          <a:lstStyle/>
          <a:p>
            <a:pPr>
              <a:spcAft>
                <a:spcPts val="0"/>
              </a:spcAft>
            </a:pPr>
            <a:r>
              <a:rPr sz="2800">
                <a:solidFill>
                  <a:srgbClr val="1F2A38"/>
                </a:solidFill>
                <a:latin typeface="Times New Roman" panose="02020603050405020304" charset="0"/>
                <a:cs typeface="Times New Roman" panose="02020603050405020304" charset="0"/>
              </a:rPr>
              <a:t>Thiết bị vận hành và phần mềm hỗ trợ các nghiệp vụ của phòng khám nha khoa</a:t>
            </a:r>
            <a:endParaRPr sz="2800">
              <a:solidFill>
                <a:srgbClr val="1F2A38"/>
              </a:solidFill>
              <a:latin typeface="Times New Roman" panose="02020603050405020304" charset="0"/>
              <a:cs typeface="Times New Roman" panose="02020603050405020304" charset="0"/>
            </a:endParaRPr>
          </a:p>
        </p:txBody>
      </p:sp>
      <p:sp>
        <p:nvSpPr>
          <p:cNvPr id="28" name="TextBox 27"/>
          <p:cNvSpPr txBox="1"/>
          <p:nvPr/>
        </p:nvSpPr>
        <p:spPr>
          <a:xfrm>
            <a:off x="17465040" y="9802368"/>
            <a:ext cx="384048" cy="201168"/>
          </a:xfrm>
          <a:prstGeom prst="rect">
            <a:avLst/>
          </a:prstGeom>
          <a:noFill/>
        </p:spPr>
        <p:txBody>
          <a:bodyPr wrap="none" lIns="0" tIns="0" rIns="0" bIns="0">
            <a:spAutoFit/>
          </a:bodyPr>
          <a:lstStyle/>
          <a:p>
            <a:r>
              <a:rPr sz="1000">
                <a:solidFill>
                  <a:srgbClr val="142330"/>
                </a:solidFill>
              </a:rPr>
              <a:t>14</a:t>
            </a:r>
            <a:endParaRPr sz="1000">
              <a:solidFill>
                <a:srgbClr val="142330"/>
              </a:solidFill>
            </a:endParaRPr>
          </a:p>
        </p:txBody>
      </p:sp>
      <p:sp>
        <p:nvSpPr>
          <p:cNvPr id="31" name="Rectangle 30"/>
          <p:cNvSpPr/>
          <p:nvPr/>
        </p:nvSpPr>
        <p:spPr>
          <a:xfrm>
            <a:off x="838200" y="5715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Times New Roman" panose="02020603050405020304" charset="0"/>
              <a:cs typeface="Times New Roman" panose="02020603050405020304" charset="0"/>
            </a:endParaRPr>
          </a:p>
        </p:txBody>
      </p:sp>
      <p:sp>
        <p:nvSpPr>
          <p:cNvPr id="47" name="Rounded Rectangle 46"/>
          <p:cNvSpPr/>
          <p:nvPr/>
        </p:nvSpPr>
        <p:spPr>
          <a:xfrm>
            <a:off x="1051560" y="2476500"/>
            <a:ext cx="7635240" cy="6957695"/>
          </a:xfrm>
          <a:prstGeom prst="roundRect">
            <a:avLst/>
          </a:prstGeom>
          <a:solidFill>
            <a:srgbClr val="FAEDEF"/>
          </a:solidFill>
          <a:ln w="12700">
            <a:solidFill>
              <a:srgbClr val="D0DE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48" name="TextBox 47"/>
          <p:cNvSpPr txBox="1"/>
          <p:nvPr/>
        </p:nvSpPr>
        <p:spPr>
          <a:xfrm>
            <a:off x="1298448" y="2750820"/>
            <a:ext cx="7132320" cy="503555"/>
          </a:xfrm>
          <a:prstGeom prst="rect">
            <a:avLst/>
          </a:prstGeom>
          <a:noFill/>
        </p:spPr>
        <p:txBody>
          <a:bodyPr wrap="square" bIns="27432" anchor="t">
            <a:spAutoFit/>
          </a:bodyPr>
          <a:lstStyle/>
          <a:p>
            <a:pPr algn="l">
              <a:lnSpc>
                <a:spcPct val="100000"/>
              </a:lnSpc>
              <a:spcBef>
                <a:spcPts val="0"/>
              </a:spcBef>
              <a:spcAft>
                <a:spcPts val="500"/>
              </a:spcAft>
            </a:pPr>
            <a:r>
              <a:rPr sz="2800" b="1">
                <a:solidFill>
                  <a:srgbClr val="BA1E34"/>
                </a:solidFill>
                <a:latin typeface="Times New Roman" panose="02020603050405020304" charset="0"/>
                <a:cs typeface="Times New Roman" panose="02020603050405020304" charset="0"/>
              </a:rPr>
              <a:t>PHẦN CỨNG</a:t>
            </a:r>
            <a:endParaRPr sz="2800" b="1">
              <a:solidFill>
                <a:srgbClr val="BA1E34"/>
              </a:solidFill>
              <a:latin typeface="Times New Roman" panose="02020603050405020304" charset="0"/>
              <a:cs typeface="Times New Roman" panose="02020603050405020304" charset="0"/>
            </a:endParaRPr>
          </a:p>
        </p:txBody>
      </p:sp>
      <p:sp>
        <p:nvSpPr>
          <p:cNvPr id="49" name="TextBox 48"/>
          <p:cNvSpPr txBox="1"/>
          <p:nvPr/>
        </p:nvSpPr>
        <p:spPr>
          <a:xfrm>
            <a:off x="1298448" y="3491484"/>
            <a:ext cx="7132320" cy="4867910"/>
          </a:xfrm>
          <a:prstGeom prst="rect">
            <a:avLst/>
          </a:prstGeom>
          <a:noFill/>
        </p:spPr>
        <p:txBody>
          <a:bodyPr wrap="square" lIns="0" tIns="12700" rIns="0" bIns="0" anchor="t">
            <a:spAutoFit/>
          </a:bodyPr>
          <a:lstStyle/>
          <a:p>
            <a:pPr algn="l">
              <a:lnSpc>
                <a:spcPct val="100000"/>
              </a:lnSpc>
              <a:spcBef>
                <a:spcPts val="0"/>
              </a:spcBef>
              <a:spcAft>
                <a:spcPts val="1100"/>
              </a:spcAft>
            </a:pPr>
            <a:r>
              <a:rPr sz="2400">
                <a:solidFill>
                  <a:srgbClr val="1F2A38"/>
                </a:solidFill>
                <a:latin typeface="Times New Roman" panose="02020603050405020304" charset="0"/>
                <a:cs typeface="Times New Roman" panose="02020603050405020304" charset="0"/>
              </a:rPr>
              <a:t>•  Máy trạm: Máy tính để bàn hoặc laptop tại quầy lễ tân, khu vực quản lý và các bộ phận chuyên môn để tra cứu, nhập và cập nhật thông tin.</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1100"/>
              </a:spcAft>
            </a:pPr>
            <a:r>
              <a:rPr sz="2400">
                <a:solidFill>
                  <a:srgbClr val="1F2A38"/>
                </a:solidFill>
                <a:latin typeface="Times New Roman" panose="02020603050405020304" charset="0"/>
                <a:cs typeface="Times New Roman" panose="02020603050405020304" charset="0"/>
              </a:rPr>
              <a:t>•  Kết nối mạng: Router, switch hoặc Wi-Fi kết nối các máy trạm, hỗ trợ truy cập ứng dụng và dữ liệu dùng chung giữa các bộ phận.</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1100"/>
              </a:spcAft>
            </a:pPr>
            <a:r>
              <a:rPr sz="2400">
                <a:solidFill>
                  <a:srgbClr val="1F2A38"/>
                </a:solidFill>
                <a:latin typeface="Times New Roman" panose="02020603050405020304" charset="0"/>
                <a:cs typeface="Times New Roman" panose="02020603050405020304" charset="0"/>
              </a:rPr>
              <a:t>•  Máy tính/máy chủ vận hành: Thiết bị chạy ứng dụng và/hoặc cơ sở dữ liệu, được bố trí phù hợp với mô hình triển khai của phòng khám.</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1100"/>
              </a:spcAft>
            </a:pPr>
            <a:r>
              <a:rPr sz="2400">
                <a:solidFill>
                  <a:srgbClr val="1F2A38"/>
                </a:solidFill>
                <a:latin typeface="Times New Roman" panose="02020603050405020304" charset="0"/>
                <a:cs typeface="Times New Roman" panose="02020603050405020304" charset="0"/>
              </a:rPr>
              <a:t>•  Lưu trữ dự phòng: Dung lượng lưu trữ dành cho bản sao lưu dữ liệu, hỗ trợ phục hồi khi xảy ra lỗi thiết bị hoặc sự cố vận hành.</a:t>
            </a:r>
            <a:endParaRPr sz="2400">
              <a:solidFill>
                <a:srgbClr val="1F2A38"/>
              </a:solidFill>
              <a:latin typeface="Times New Roman" panose="02020603050405020304" charset="0"/>
              <a:cs typeface="Times New Roman" panose="02020603050405020304" charset="0"/>
            </a:endParaRPr>
          </a:p>
        </p:txBody>
      </p:sp>
      <p:sp>
        <p:nvSpPr>
          <p:cNvPr id="50" name="Rounded Rectangle 49"/>
          <p:cNvSpPr/>
          <p:nvPr/>
        </p:nvSpPr>
        <p:spPr>
          <a:xfrm>
            <a:off x="9582785" y="2476500"/>
            <a:ext cx="7635240" cy="6932930"/>
          </a:xfrm>
          <a:prstGeom prst="roundRect">
            <a:avLst/>
          </a:prstGeom>
          <a:solidFill>
            <a:srgbClr val="EBF2F9"/>
          </a:solidFill>
          <a:ln w="12700">
            <a:solidFill>
              <a:srgbClr val="D0DE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51" name="TextBox 50"/>
          <p:cNvSpPr txBox="1"/>
          <p:nvPr/>
        </p:nvSpPr>
        <p:spPr>
          <a:xfrm>
            <a:off x="9829673" y="2750820"/>
            <a:ext cx="7132320" cy="503555"/>
          </a:xfrm>
          <a:prstGeom prst="rect">
            <a:avLst/>
          </a:prstGeom>
          <a:noFill/>
        </p:spPr>
        <p:txBody>
          <a:bodyPr wrap="square" bIns="27432" anchor="t">
            <a:spAutoFit/>
          </a:bodyPr>
          <a:lstStyle/>
          <a:p>
            <a:pPr algn="l">
              <a:lnSpc>
                <a:spcPct val="100000"/>
              </a:lnSpc>
              <a:spcBef>
                <a:spcPts val="0"/>
              </a:spcBef>
              <a:spcAft>
                <a:spcPts val="500"/>
              </a:spcAft>
            </a:pPr>
            <a:r>
              <a:rPr sz="2800" b="1">
                <a:solidFill>
                  <a:srgbClr val="BA1E34"/>
                </a:solidFill>
                <a:latin typeface="Times New Roman" panose="02020603050405020304" charset="0"/>
                <a:cs typeface="Times New Roman" panose="02020603050405020304" charset="0"/>
              </a:rPr>
              <a:t>PHẦN MỀM</a:t>
            </a:r>
            <a:endParaRPr sz="2800" b="1">
              <a:solidFill>
                <a:srgbClr val="BA1E34"/>
              </a:solidFill>
              <a:latin typeface="Times New Roman" panose="02020603050405020304" charset="0"/>
              <a:cs typeface="Times New Roman" panose="02020603050405020304" charset="0"/>
            </a:endParaRPr>
          </a:p>
        </p:txBody>
      </p:sp>
      <p:sp>
        <p:nvSpPr>
          <p:cNvPr id="52" name="TextBox 51"/>
          <p:cNvSpPr txBox="1"/>
          <p:nvPr/>
        </p:nvSpPr>
        <p:spPr>
          <a:xfrm>
            <a:off x="9829673" y="3491484"/>
            <a:ext cx="7132320" cy="5593715"/>
          </a:xfrm>
          <a:prstGeom prst="rect">
            <a:avLst/>
          </a:prstGeom>
          <a:noFill/>
        </p:spPr>
        <p:txBody>
          <a:bodyPr wrap="square" lIns="0" tIns="12700" rIns="0" bIns="0" anchor="t">
            <a:spAutoFit/>
          </a:bodyPr>
          <a:lstStyle/>
          <a:p>
            <a:pPr algn="l">
              <a:lnSpc>
                <a:spcPct val="100000"/>
              </a:lnSpc>
              <a:spcBef>
                <a:spcPts val="0"/>
              </a:spcBef>
              <a:spcAft>
                <a:spcPts val="800"/>
              </a:spcAft>
            </a:pPr>
            <a:r>
              <a:rPr sz="2400">
                <a:solidFill>
                  <a:srgbClr val="1F2A38"/>
                </a:solidFill>
                <a:latin typeface="Times New Roman" panose="02020603050405020304" charset="0"/>
                <a:cs typeface="Times New Roman" panose="02020603050405020304" charset="0"/>
              </a:rPr>
              <a:t>•  Ứng dụng quản lý phòng khám: Giao diện theo vai trò quản trị viên, quản lý phòng khám và lễ tân; hỗ trợ các bộ phận thực hiện đúng nghiệp vụ được phân công.</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800"/>
              </a:spcAft>
            </a:pPr>
            <a:r>
              <a:rPr sz="2400">
                <a:solidFill>
                  <a:srgbClr val="1F2A38"/>
                </a:solidFill>
                <a:latin typeface="Times New Roman" panose="02020603050405020304" charset="0"/>
                <a:cs typeface="Times New Roman" panose="02020603050405020304" charset="0"/>
              </a:rPr>
              <a:t>•  SQL Server: Quản lý dữ liệu có cấu trúc như hồ sơ bệnh nhân và nhân viên, lịch hẹn, lượt khám, dịch vụ, hóa đơn, tài khoản và vai trò.</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800"/>
              </a:spcAft>
            </a:pPr>
            <a:r>
              <a:rPr sz="2400">
                <a:solidFill>
                  <a:srgbClr val="1F2A38"/>
                </a:solidFill>
                <a:latin typeface="Times New Roman" panose="02020603050405020304" charset="0"/>
                <a:cs typeface="Times New Roman" panose="02020603050405020304" charset="0"/>
              </a:rPr>
              <a:t>•  Nghiệp vụ chính: Quản lý hồ sơ, lịch hẹn và tiếp nhận; khám, chẩn đoán, chỉ định cận lâm sàng, kê đơn; quản lý dịch vụ, kho thuốc, thanh toán và báo cáo.</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800"/>
              </a:spcAft>
            </a:pPr>
            <a:r>
              <a:rPr sz="2400">
                <a:solidFill>
                  <a:srgbClr val="1F2A38"/>
                </a:solidFill>
                <a:latin typeface="Times New Roman" panose="02020603050405020304" charset="0"/>
                <a:cs typeface="Times New Roman" panose="02020603050405020304" charset="0"/>
              </a:rPr>
              <a:t>•  Kiểm soát và bảo mật: Đăng nhập tài khoản, phân quyền theo vai trò, kiểm tra dữ liệu bắt buộc/trùng lặp và ghi nhật ký các thao tác quan trọng để truy vết.</a:t>
            </a:r>
            <a:endParaRPr sz="2400">
              <a:solidFill>
                <a:srgbClr val="1F2A38"/>
              </a:solidFill>
              <a:latin typeface="Times New Roman" panose="02020603050405020304" charset="0"/>
              <a:cs typeface="Times New Roman" panose="02020603050405020304" charset="0"/>
            </a:endParaRPr>
          </a:p>
          <a:p>
            <a:pPr algn="l">
              <a:lnSpc>
                <a:spcPct val="100000"/>
              </a:lnSpc>
              <a:spcBef>
                <a:spcPts val="0"/>
              </a:spcBef>
              <a:spcAft>
                <a:spcPts val="800"/>
              </a:spcAft>
            </a:pPr>
            <a:r>
              <a:rPr sz="2400">
                <a:solidFill>
                  <a:srgbClr val="1F2A38"/>
                </a:solidFill>
                <a:latin typeface="Times New Roman" panose="02020603050405020304" charset="0"/>
                <a:cs typeface="Times New Roman" panose="02020603050405020304" charset="0"/>
              </a:rPr>
              <a:t>•  Figma: Tài liệu thiết kế/tham chiếu giao diện, hỗ trợ định hình bố cục màn hình trước khi hiện thực ứng dụng.</a:t>
            </a:r>
            <a:endParaRPr sz="2400">
              <a:solidFill>
                <a:srgbClr val="1F2A38"/>
              </a:solidFill>
              <a:latin typeface="Times New Roman" panose="02020603050405020304" charset="0"/>
              <a:cs typeface="Times New Roman" panose="02020603050405020304" charset="0"/>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3810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2"/>
          <p:cNvSpPr txBox="1"/>
          <p:nvPr/>
        </p:nvSpPr>
        <p:spPr>
          <a:xfrm>
            <a:off x="1051560" y="647700"/>
            <a:ext cx="14287500" cy="602615"/>
          </a:xfrm>
          <a:prstGeom prst="rect">
            <a:avLst/>
          </a:prstGeom>
        </p:spPr>
        <p:txBody>
          <a:bodyPr lIns="0" tIns="0" rIns="0" bIns="0" rtlCol="0" anchor="t">
            <a:spAutoFit/>
          </a:bodyPr>
          <a:lstStyle/>
          <a:p>
            <a:pPr algn="l">
              <a:lnSpc>
                <a:spcPts val="4700"/>
              </a:lnSpc>
            </a:pPr>
            <a:r>
              <a:rPr lang="en-US" alt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Màn hình trang chủ quản trị viên</a:t>
            </a:r>
            <a:endParaRPr lang="en-US" alt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14</a:t>
            </a:r>
            <a:endParaRPr sz="900" b="1">
              <a:solidFill>
                <a:srgbClr val="111111"/>
              </a:solidFill>
              <a:latin typeface="Aptos"/>
            </a:endParaRPr>
          </a:p>
        </p:txBody>
      </p:sp>
      <p:sp>
        <p:nvSpPr>
          <p:cNvPr id="22" name="Rounded Rectangle 21"/>
          <p:cNvSpPr/>
          <p:nvPr/>
        </p:nvSpPr>
        <p:spPr>
          <a:xfrm>
            <a:off x="925830" y="1790700"/>
            <a:ext cx="3604260"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sp>
        <p:nvSpPr>
          <p:cNvPr id="4" name="Rounded Rectangle 3"/>
          <p:cNvSpPr/>
          <p:nvPr/>
        </p:nvSpPr>
        <p:spPr>
          <a:xfrm>
            <a:off x="925830" y="3848100"/>
            <a:ext cx="3604260" cy="155511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sp>
        <p:nvSpPr>
          <p:cNvPr id="7" name="Rounded Rectangle 6"/>
          <p:cNvSpPr/>
          <p:nvPr/>
        </p:nvSpPr>
        <p:spPr>
          <a:xfrm>
            <a:off x="893445" y="5871210"/>
            <a:ext cx="3604260" cy="1555750"/>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pic>
        <p:nvPicPr>
          <p:cNvPr id="9" name="Picture 8" descr="chart-no-axes-combin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9670" y="1825625"/>
            <a:ext cx="446405" cy="446405"/>
          </a:xfrm>
          <a:prstGeom prst="rect">
            <a:avLst/>
          </a:prstGeom>
        </p:spPr>
      </p:pic>
      <p:sp>
        <p:nvSpPr>
          <p:cNvPr id="10" name="Text Box 9"/>
          <p:cNvSpPr txBox="1"/>
          <p:nvPr/>
        </p:nvSpPr>
        <p:spPr>
          <a:xfrm>
            <a:off x="1550670" y="1866900"/>
            <a:ext cx="2876550"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Thống kê</a:t>
            </a:r>
            <a:endParaRPr lang="en-US" altLang="en-US" sz="2400" b="1">
              <a:solidFill>
                <a:srgbClr val="C00000"/>
              </a:solidFill>
              <a:latin typeface="Times New Roman" panose="02020603050405020304" charset="0"/>
              <a:cs typeface="Times New Roman" panose="02020603050405020304" charset="0"/>
            </a:endParaRPr>
          </a:p>
        </p:txBody>
      </p:sp>
      <p:sp>
        <p:nvSpPr>
          <p:cNvPr id="12" name="Text Box 11"/>
          <p:cNvSpPr txBox="1"/>
          <p:nvPr/>
        </p:nvSpPr>
        <p:spPr>
          <a:xfrm>
            <a:off x="1093470" y="2383790"/>
            <a:ext cx="3284220" cy="1014730"/>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Theo d</a:t>
            </a:r>
            <a:r>
              <a:rPr lang="en-US" altLang="en-US" sz="2000">
                <a:latin typeface="Times New Roman" panose="02020603050405020304" charset="0"/>
                <a:cs typeface="Times New Roman" panose="02020603050405020304" charset="0"/>
              </a:rPr>
              <a:t>õ</a:t>
            </a:r>
            <a:r>
              <a:rPr lang="en-US" altLang="en-US" sz="2000">
                <a:latin typeface="Times New Roman" panose="02020603050405020304" charset="0"/>
                <a:cs typeface="Times New Roman" panose="02020603050405020304" charset="0"/>
              </a:rPr>
              <a:t>i tổng tài khoản, tài khoản hoạt </a:t>
            </a:r>
            <a:r>
              <a:rPr lang="en-US"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ộng và cảnh báo bảo mật.</a:t>
            </a:r>
            <a:endParaRPr lang="en-US" altLang="en-US" sz="2000">
              <a:latin typeface="Times New Roman" panose="02020603050405020304" charset="0"/>
              <a:cs typeface="Times New Roman" panose="02020603050405020304" charset="0"/>
            </a:endParaRPr>
          </a:p>
        </p:txBody>
      </p:sp>
      <p:pic>
        <p:nvPicPr>
          <p:cNvPr id="13" name="Picture 12" descr="shield-check"/>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7285" y="5999480"/>
            <a:ext cx="446405" cy="446405"/>
          </a:xfrm>
          <a:prstGeom prst="rect">
            <a:avLst/>
          </a:prstGeom>
        </p:spPr>
      </p:pic>
      <p:pic>
        <p:nvPicPr>
          <p:cNvPr id="14" name="Picture 13" descr="users-round"/>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57605" y="4000500"/>
            <a:ext cx="457200" cy="457200"/>
          </a:xfrm>
          <a:prstGeom prst="rect">
            <a:avLst/>
          </a:prstGeom>
        </p:spPr>
      </p:pic>
      <p:sp>
        <p:nvSpPr>
          <p:cNvPr id="15" name="Text Box 14"/>
          <p:cNvSpPr txBox="1"/>
          <p:nvPr/>
        </p:nvSpPr>
        <p:spPr>
          <a:xfrm>
            <a:off x="1626870" y="3997325"/>
            <a:ext cx="2199640"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Tài khoản</a:t>
            </a:r>
            <a:endParaRPr lang="en-US" altLang="en-US" sz="2400" b="1">
              <a:solidFill>
                <a:srgbClr val="C00000"/>
              </a:solidFill>
              <a:latin typeface="Times New Roman" panose="02020603050405020304" charset="0"/>
              <a:cs typeface="Times New Roman" panose="02020603050405020304" charset="0"/>
            </a:endParaRPr>
          </a:p>
        </p:txBody>
      </p:sp>
      <p:sp>
        <p:nvSpPr>
          <p:cNvPr id="16" name="Text Box 15"/>
          <p:cNvSpPr txBox="1"/>
          <p:nvPr/>
        </p:nvSpPr>
        <p:spPr>
          <a:xfrm>
            <a:off x="1142365" y="4610100"/>
            <a:ext cx="3235325" cy="706755"/>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Tra cứu, cập nhật và quản l</a:t>
            </a:r>
            <a:r>
              <a:rPr lang="en-US" altLang="en-US" sz="2000">
                <a:latin typeface="Times New Roman" panose="02020603050405020304" charset="0"/>
                <a:cs typeface="Times New Roman" panose="02020603050405020304" charset="0"/>
              </a:rPr>
              <a:t>ý </a:t>
            </a:r>
            <a:r>
              <a:rPr lang="en-US" altLang="en-US" sz="2000">
                <a:latin typeface="Times New Roman" panose="02020603050405020304" charset="0"/>
                <a:cs typeface="Times New Roman" panose="02020603050405020304" charset="0"/>
              </a:rPr>
              <a:t>tài khoản ng</a:t>
            </a:r>
            <a:r>
              <a:rPr lang="en-US" altLang="en-US" sz="2000">
                <a:latin typeface="Times New Roman" panose="02020603050405020304" charset="0"/>
                <a:cs typeface="Times New Roman" panose="02020603050405020304" charset="0"/>
              </a:rPr>
              <a:t>ư</a:t>
            </a:r>
            <a:r>
              <a:rPr lang="en-US" altLang="en-US" sz="2000">
                <a:latin typeface="Times New Roman" panose="02020603050405020304" charset="0"/>
                <a:cs typeface="Times New Roman" panose="02020603050405020304" charset="0"/>
              </a:rPr>
              <a:t>ời dùng.</a:t>
            </a:r>
            <a:endParaRPr lang="en-US" altLang="en-US" sz="2000">
              <a:latin typeface="Times New Roman" panose="02020603050405020304" charset="0"/>
              <a:cs typeface="Times New Roman" panose="02020603050405020304" charset="0"/>
            </a:endParaRPr>
          </a:p>
        </p:txBody>
      </p:sp>
      <p:sp>
        <p:nvSpPr>
          <p:cNvPr id="17" name="Text Box 16"/>
          <p:cNvSpPr txBox="1"/>
          <p:nvPr/>
        </p:nvSpPr>
        <p:spPr>
          <a:xfrm>
            <a:off x="1518285" y="5985510"/>
            <a:ext cx="1823720"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Phân quyền</a:t>
            </a:r>
            <a:endParaRPr lang="en-US" altLang="en-US" sz="2400" b="1">
              <a:solidFill>
                <a:srgbClr val="C00000"/>
              </a:solidFill>
              <a:latin typeface="Times New Roman" panose="02020603050405020304" charset="0"/>
              <a:cs typeface="Times New Roman" panose="02020603050405020304" charset="0"/>
            </a:endParaRPr>
          </a:p>
        </p:txBody>
      </p:sp>
      <p:sp>
        <p:nvSpPr>
          <p:cNvPr id="18" name="Text Box 17"/>
          <p:cNvSpPr txBox="1"/>
          <p:nvPr/>
        </p:nvSpPr>
        <p:spPr>
          <a:xfrm>
            <a:off x="1109980" y="6609080"/>
            <a:ext cx="3235960" cy="706755"/>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Thiết lập vai trò và quyền truy cập theo chức n</a:t>
            </a:r>
            <a:r>
              <a:rPr lang="en-US" altLang="en-US" sz="2000">
                <a:latin typeface="Times New Roman" panose="02020603050405020304" charset="0"/>
                <a:cs typeface="Times New Roman" panose="02020603050405020304" charset="0"/>
              </a:rPr>
              <a:t>ă</a:t>
            </a:r>
            <a:r>
              <a:rPr lang="en-US" altLang="en-US" sz="2000">
                <a:latin typeface="Times New Roman" panose="02020603050405020304" charset="0"/>
                <a:cs typeface="Times New Roman" panose="02020603050405020304" charset="0"/>
              </a:rPr>
              <a:t>ng.</a:t>
            </a:r>
            <a:endParaRPr lang="en-US" altLang="en-US" sz="2000">
              <a:latin typeface="Times New Roman" panose="02020603050405020304" charset="0"/>
              <a:cs typeface="Times New Roman" panose="02020603050405020304" charset="0"/>
            </a:endParaRPr>
          </a:p>
        </p:txBody>
      </p:sp>
      <p:sp>
        <p:nvSpPr>
          <p:cNvPr id="31" name="Rectangle 30"/>
          <p:cNvSpPr/>
          <p:nvPr/>
        </p:nvSpPr>
        <p:spPr>
          <a:xfrm>
            <a:off x="868680" y="5715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6" name="Rounded Rectangle 5"/>
          <p:cNvSpPr/>
          <p:nvPr/>
        </p:nvSpPr>
        <p:spPr>
          <a:xfrm>
            <a:off x="868680" y="7886700"/>
            <a:ext cx="3602990" cy="159956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pic>
        <p:nvPicPr>
          <p:cNvPr id="1244639212" name="Picture 1244639211" descr="icon_he_thong_gear.png"/>
          <p:cNvPicPr>
            <a:picLocks noChangeAspect="1"/>
          </p:cNvPicPr>
          <p:nvPr/>
        </p:nvPicPr>
        <p:blipFill>
          <a:blip r:embed="rId8"/>
          <a:stretch>
            <a:fillRect/>
          </a:stretch>
        </p:blipFill>
        <p:spPr>
          <a:xfrm>
            <a:off x="1097280" y="7959725"/>
            <a:ext cx="365760" cy="365760"/>
          </a:xfrm>
          <a:prstGeom prst="rect">
            <a:avLst/>
          </a:prstGeom>
        </p:spPr>
      </p:pic>
      <p:sp>
        <p:nvSpPr>
          <p:cNvPr id="1244639213" name="TextBox 1244639212"/>
          <p:cNvSpPr txBox="1"/>
          <p:nvPr/>
        </p:nvSpPr>
        <p:spPr>
          <a:xfrm>
            <a:off x="1490472" y="7996301"/>
            <a:ext cx="2788920" cy="460375"/>
          </a:xfrm>
          <a:prstGeom prst="rect">
            <a:avLst/>
          </a:prstGeom>
          <a:noFill/>
        </p:spPr>
        <p:txBody>
          <a:bodyPr wrap="square">
            <a:spAutoFit/>
          </a:bodyPr>
          <a:lstStyle/>
          <a:p>
            <a:pPr>
              <a:spcBef>
                <a:spcPts val="0"/>
              </a:spcBef>
              <a:spcAft>
                <a:spcPts val="0"/>
              </a:spcAft>
            </a:pPr>
            <a:r>
              <a:rPr sz="2400" b="1">
                <a:solidFill>
                  <a:srgbClr val="C00000"/>
                </a:solidFill>
                <a:latin typeface="Times New Roman" panose="02020603050405020304"/>
              </a:rPr>
              <a:t>Hệ thống</a:t>
            </a:r>
            <a:endParaRPr sz="2400" b="1">
              <a:solidFill>
                <a:srgbClr val="C00000"/>
              </a:solidFill>
              <a:latin typeface="Times New Roman" panose="02020603050405020304"/>
            </a:endParaRPr>
          </a:p>
        </p:txBody>
      </p:sp>
      <p:sp>
        <p:nvSpPr>
          <p:cNvPr id="1244639214" name="TextBox 1244639213"/>
          <p:cNvSpPr txBox="1"/>
          <p:nvPr/>
        </p:nvSpPr>
        <p:spPr>
          <a:xfrm>
            <a:off x="1115568" y="8416925"/>
            <a:ext cx="3154680" cy="941070"/>
          </a:xfrm>
          <a:prstGeom prst="rect">
            <a:avLst/>
          </a:prstGeom>
          <a:noFill/>
        </p:spPr>
        <p:txBody>
          <a:bodyPr wrap="square" lIns="27432" tIns="9144" rIns="27432" bIns="9144">
            <a:spAutoFit/>
          </a:bodyPr>
          <a:lstStyle/>
          <a:p>
            <a:pPr algn="just">
              <a:spcBef>
                <a:spcPts val="0"/>
              </a:spcBef>
              <a:spcAft>
                <a:spcPts val="0"/>
              </a:spcAft>
            </a:pPr>
            <a:r>
              <a:rPr sz="2000">
                <a:solidFill>
                  <a:srgbClr val="000000"/>
                </a:solidFill>
                <a:latin typeface="Times New Roman" panose="02020603050405020304"/>
              </a:rPr>
              <a:t>Cấu hình, bảo trì, sao lưu/phục hồi dữ liệu và theo dõi nhật ký hoạt động.</a:t>
            </a:r>
            <a:endParaRPr sz="2000">
              <a:solidFill>
                <a:srgbClr val="000000"/>
              </a:solidFill>
              <a:latin typeface="Times New Roman" panose="02020603050405020304"/>
            </a:endParaRPr>
          </a:p>
        </p:txBody>
      </p:sp>
      <p:pic>
        <p:nvPicPr>
          <p:cNvPr id="5" name="Picture 4"/>
          <p:cNvPicPr>
            <a:picLocks noChangeAspect="1"/>
          </p:cNvPicPr>
          <p:nvPr/>
        </p:nvPicPr>
        <p:blipFill>
          <a:blip r:embed="rId9"/>
          <a:stretch>
            <a:fillRect/>
          </a:stretch>
        </p:blipFill>
        <p:spPr>
          <a:xfrm>
            <a:off x="4648200" y="1943100"/>
            <a:ext cx="13514705" cy="7155815"/>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2"/>
          <p:cNvSpPr txBox="1"/>
          <p:nvPr/>
        </p:nvSpPr>
        <p:spPr>
          <a:xfrm>
            <a:off x="1051560" y="647700"/>
            <a:ext cx="14287500" cy="602615"/>
          </a:xfrm>
          <a:prstGeom prst="rect">
            <a:avLst/>
          </a:prstGeom>
        </p:spPr>
        <p:txBody>
          <a:bodyPr lIns="0" tIns="0" rIns="0" bIns="0" rtlCol="0" anchor="t">
            <a:spAutoFit/>
          </a:bodyPr>
          <a:lstStyle/>
          <a:p>
            <a:pPr algn="l">
              <a:lnSpc>
                <a:spcPts val="4700"/>
              </a:lnSpc>
            </a:pPr>
            <a:r>
              <a:rPr lang="en-US" alt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Màn hình trang chủ quản lí</a:t>
            </a:r>
            <a:endParaRPr lang="en-US" alt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15</a:t>
            </a:r>
            <a:endParaRPr sz="900" b="1">
              <a:solidFill>
                <a:srgbClr val="111111"/>
              </a:solidFill>
              <a:latin typeface="Aptos"/>
            </a:endParaRPr>
          </a:p>
        </p:txBody>
      </p:sp>
      <p:sp>
        <p:nvSpPr>
          <p:cNvPr id="22" name="Rounded Rectangle 21"/>
          <p:cNvSpPr/>
          <p:nvPr/>
        </p:nvSpPr>
        <p:spPr>
          <a:xfrm>
            <a:off x="13860780" y="2324735"/>
            <a:ext cx="3604260"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sp>
        <p:nvSpPr>
          <p:cNvPr id="3" name="Rounded Rectangle 2"/>
          <p:cNvSpPr/>
          <p:nvPr/>
        </p:nvSpPr>
        <p:spPr>
          <a:xfrm>
            <a:off x="13944600" y="4686300"/>
            <a:ext cx="3604260"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sp>
        <p:nvSpPr>
          <p:cNvPr id="4" name="Rounded Rectangle 3"/>
          <p:cNvSpPr/>
          <p:nvPr/>
        </p:nvSpPr>
        <p:spPr>
          <a:xfrm>
            <a:off x="13944600" y="7047865"/>
            <a:ext cx="3604260"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pic>
        <p:nvPicPr>
          <p:cNvPr id="7" name="Picture 6" descr="briefcase-busines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97000" y="2435860"/>
            <a:ext cx="426085" cy="426085"/>
          </a:xfrm>
          <a:prstGeom prst="rect">
            <a:avLst/>
          </a:prstGeom>
        </p:spPr>
      </p:pic>
      <p:sp>
        <p:nvSpPr>
          <p:cNvPr id="8" name="Text Box 7"/>
          <p:cNvSpPr txBox="1"/>
          <p:nvPr/>
        </p:nvSpPr>
        <p:spPr>
          <a:xfrm>
            <a:off x="14517370" y="2400300"/>
            <a:ext cx="2746375" cy="460375"/>
          </a:xfrm>
          <a:prstGeom prst="rect">
            <a:avLst/>
          </a:prstGeom>
          <a:noFill/>
        </p:spPr>
        <p:txBody>
          <a:bodyPr wrap="square" rtlCol="0">
            <a:spAutoFit/>
          </a:bodyPr>
          <a:p>
            <a:pPr algn="just"/>
            <a:r>
              <a:rPr lang="en-US" altLang="en-US" sz="2400" b="1">
                <a:solidFill>
                  <a:srgbClr val="C00000"/>
                </a:solidFill>
                <a:latin typeface="Times New Roman" panose="02020603050405020304" charset="0"/>
                <a:cs typeface="Times New Roman" panose="02020603050405020304" charset="0"/>
              </a:rPr>
              <a:t>Quản l</a:t>
            </a:r>
            <a:r>
              <a:rPr lang="en-US" altLang="en-US" sz="2400" b="1">
                <a:solidFill>
                  <a:srgbClr val="C00000"/>
                </a:solidFill>
                <a:latin typeface="Times New Roman" panose="02020603050405020304" charset="0"/>
                <a:cs typeface="Times New Roman" panose="02020603050405020304" charset="0"/>
              </a:rPr>
              <a:t>ý </a:t>
            </a:r>
            <a:r>
              <a:rPr lang="en-US" altLang="en-US" sz="2400" b="1">
                <a:solidFill>
                  <a:srgbClr val="C00000"/>
                </a:solidFill>
                <a:latin typeface="Times New Roman" panose="02020603050405020304" charset="0"/>
                <a:cs typeface="Times New Roman" panose="02020603050405020304" charset="0"/>
              </a:rPr>
              <a:t>nhân viên</a:t>
            </a:r>
            <a:endParaRPr lang="en-US" altLang="en-US" sz="2400" b="1">
              <a:solidFill>
                <a:srgbClr val="C00000"/>
              </a:solidFill>
              <a:latin typeface="Times New Roman" panose="02020603050405020304" charset="0"/>
              <a:cs typeface="Times New Roman" panose="02020603050405020304" charset="0"/>
            </a:endParaRPr>
          </a:p>
        </p:txBody>
      </p:sp>
      <p:sp>
        <p:nvSpPr>
          <p:cNvPr id="9" name="Text Box 8"/>
          <p:cNvSpPr txBox="1"/>
          <p:nvPr/>
        </p:nvSpPr>
        <p:spPr>
          <a:xfrm>
            <a:off x="14088110" y="2917190"/>
            <a:ext cx="3175635" cy="1014730"/>
          </a:xfrm>
          <a:prstGeom prst="rect">
            <a:avLst/>
          </a:prstGeom>
          <a:noFill/>
        </p:spPr>
        <p:txBody>
          <a:bodyPr wrap="square" rtlCol="0">
            <a:spAutoFit/>
          </a:bodyPr>
          <a:p>
            <a:pPr lvl="0" algn="just"/>
            <a:r>
              <a:rPr lang="en-US" altLang="en-US" sz="2000">
                <a:latin typeface="Times New Roman" panose="02020603050405020304" charset="0"/>
                <a:cs typeface="Times New Roman" panose="02020603050405020304" charset="0"/>
              </a:rPr>
              <a:t>Theo d</a:t>
            </a:r>
            <a:r>
              <a:rPr lang="en-US" altLang="en-US" sz="2000">
                <a:latin typeface="Times New Roman" panose="02020603050405020304" charset="0"/>
                <a:cs typeface="Times New Roman" panose="02020603050405020304" charset="0"/>
              </a:rPr>
              <a:t>õ</a:t>
            </a:r>
            <a:r>
              <a:rPr lang="en-US" altLang="en-US" sz="2000">
                <a:latin typeface="Times New Roman" panose="02020603050405020304" charset="0"/>
                <a:cs typeface="Times New Roman" panose="02020603050405020304" charset="0"/>
              </a:rPr>
              <a:t>i số l</a:t>
            </a:r>
            <a:r>
              <a:rPr lang="en-US" altLang="en-US" sz="2000">
                <a:latin typeface="Times New Roman" panose="02020603050405020304" charset="0"/>
                <a:cs typeface="Times New Roman" panose="02020603050405020304" charset="0"/>
              </a:rPr>
              <a:t>ư</a:t>
            </a:r>
            <a:r>
              <a:rPr lang="en-US" altLang="en-US" sz="2000">
                <a:latin typeface="Times New Roman" panose="02020603050405020304" charset="0"/>
                <a:cs typeface="Times New Roman" panose="02020603050405020304" charset="0"/>
              </a:rPr>
              <a:t>ợng nhân viên và quản l</a:t>
            </a:r>
            <a:r>
              <a:rPr lang="en-US" altLang="en-US" sz="2000">
                <a:latin typeface="Times New Roman" panose="02020603050405020304" charset="0"/>
                <a:cs typeface="Times New Roman" panose="02020603050405020304" charset="0"/>
              </a:rPr>
              <a:t>ý </a:t>
            </a:r>
            <a:r>
              <a:rPr lang="en-US" altLang="en-US" sz="2000">
                <a:latin typeface="Times New Roman" panose="02020603050405020304" charset="0"/>
                <a:cs typeface="Times New Roman" panose="02020603050405020304" charset="0"/>
              </a:rPr>
              <a:t>thông tin nhân sự của phòng khám.</a:t>
            </a:r>
            <a:endParaRPr lang="en-US" altLang="en-US" sz="2000">
              <a:latin typeface="Times New Roman" panose="02020603050405020304" charset="0"/>
              <a:cs typeface="Times New Roman" panose="02020603050405020304" charset="0"/>
            </a:endParaRPr>
          </a:p>
        </p:txBody>
      </p:sp>
      <p:pic>
        <p:nvPicPr>
          <p:cNvPr id="10" name="Picture 9" descr="heart-puls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102715" y="4766945"/>
            <a:ext cx="420370" cy="420370"/>
          </a:xfrm>
          <a:prstGeom prst="rect">
            <a:avLst/>
          </a:prstGeom>
        </p:spPr>
      </p:pic>
      <p:sp>
        <p:nvSpPr>
          <p:cNvPr id="12" name="Text Box 11"/>
          <p:cNvSpPr txBox="1"/>
          <p:nvPr/>
        </p:nvSpPr>
        <p:spPr>
          <a:xfrm>
            <a:off x="14555470" y="4766945"/>
            <a:ext cx="2993390"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Quản l</a:t>
            </a:r>
            <a:r>
              <a:rPr lang="en-US" altLang="en-US" sz="2400" b="1">
                <a:solidFill>
                  <a:srgbClr val="C00000"/>
                </a:solidFill>
                <a:latin typeface="Times New Roman" panose="02020603050405020304" charset="0"/>
                <a:cs typeface="Times New Roman" panose="02020603050405020304" charset="0"/>
              </a:rPr>
              <a:t>ý </a:t>
            </a:r>
            <a:r>
              <a:rPr lang="en-US" altLang="en-US" sz="2400" b="1">
                <a:solidFill>
                  <a:srgbClr val="C00000"/>
                </a:solidFill>
                <a:latin typeface="Times New Roman" panose="02020603050405020304" charset="0"/>
                <a:cs typeface="Times New Roman" panose="02020603050405020304" charset="0"/>
              </a:rPr>
              <a:t>dịch vụ</a:t>
            </a:r>
            <a:endParaRPr lang="en-US" altLang="en-US" sz="2400" b="1">
              <a:solidFill>
                <a:srgbClr val="C00000"/>
              </a:solidFill>
              <a:latin typeface="Times New Roman" panose="02020603050405020304" charset="0"/>
              <a:cs typeface="Times New Roman" panose="02020603050405020304" charset="0"/>
            </a:endParaRPr>
          </a:p>
        </p:txBody>
      </p:sp>
      <p:sp>
        <p:nvSpPr>
          <p:cNvPr id="13" name="Text Box 12"/>
          <p:cNvSpPr txBox="1"/>
          <p:nvPr/>
        </p:nvSpPr>
        <p:spPr>
          <a:xfrm>
            <a:off x="14097000" y="5260975"/>
            <a:ext cx="3277235" cy="1014730"/>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Theo d</a:t>
            </a:r>
            <a:r>
              <a:rPr lang="en-US" altLang="en-US" sz="2000">
                <a:latin typeface="Times New Roman" panose="02020603050405020304" charset="0"/>
                <a:cs typeface="Times New Roman" panose="02020603050405020304" charset="0"/>
              </a:rPr>
              <a:t>õ</a:t>
            </a:r>
            <a:r>
              <a:rPr lang="en-US" altLang="en-US" sz="2000">
                <a:latin typeface="Times New Roman" panose="02020603050405020304" charset="0"/>
                <a:cs typeface="Times New Roman" panose="02020603050405020304" charset="0"/>
              </a:rPr>
              <a:t>i danh sách dịch vụ nha khoa và tình trạng áp dụng.</a:t>
            </a:r>
            <a:endParaRPr lang="en-US" altLang="en-US" sz="2000">
              <a:latin typeface="Times New Roman" panose="02020603050405020304" charset="0"/>
              <a:cs typeface="Times New Roman" panose="02020603050405020304" charset="0"/>
            </a:endParaRPr>
          </a:p>
        </p:txBody>
      </p:sp>
      <p:pic>
        <p:nvPicPr>
          <p:cNvPr id="14" name="Picture 13" descr="chart-no-axes-combined"/>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088110" y="7124700"/>
            <a:ext cx="464185" cy="464185"/>
          </a:xfrm>
          <a:prstGeom prst="rect">
            <a:avLst/>
          </a:prstGeom>
        </p:spPr>
      </p:pic>
      <p:sp>
        <p:nvSpPr>
          <p:cNvPr id="15" name="Text Box 14"/>
          <p:cNvSpPr txBox="1"/>
          <p:nvPr/>
        </p:nvSpPr>
        <p:spPr>
          <a:xfrm>
            <a:off x="14555470" y="7133590"/>
            <a:ext cx="3456940"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Thống kê doanh thu</a:t>
            </a:r>
            <a:endParaRPr lang="en-US" altLang="en-US" sz="2400" b="1">
              <a:solidFill>
                <a:srgbClr val="C00000"/>
              </a:solidFill>
              <a:latin typeface="Times New Roman" panose="02020603050405020304" charset="0"/>
              <a:cs typeface="Times New Roman" panose="02020603050405020304" charset="0"/>
            </a:endParaRPr>
          </a:p>
        </p:txBody>
      </p:sp>
      <p:sp>
        <p:nvSpPr>
          <p:cNvPr id="16" name="Text Box 15"/>
          <p:cNvSpPr txBox="1"/>
          <p:nvPr/>
        </p:nvSpPr>
        <p:spPr>
          <a:xfrm>
            <a:off x="14128750" y="7622540"/>
            <a:ext cx="3244850" cy="1014730"/>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Tổng hợp doanh thu theo ngày, tháng và theo d</a:t>
            </a:r>
            <a:r>
              <a:rPr lang="en-US" altLang="en-US" sz="2000">
                <a:latin typeface="Times New Roman" panose="02020603050405020304" charset="0"/>
                <a:cs typeface="Times New Roman" panose="02020603050405020304" charset="0"/>
              </a:rPr>
              <a:t>õ</a:t>
            </a:r>
            <a:r>
              <a:rPr lang="en-US" altLang="en-US" sz="2000">
                <a:latin typeface="Times New Roman" panose="02020603050405020304" charset="0"/>
                <a:cs typeface="Times New Roman" panose="02020603050405020304" charset="0"/>
              </a:rPr>
              <a:t>i hiệu quả hoạt </a:t>
            </a:r>
            <a:r>
              <a:rPr lang="en-US"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ộng phòng khám.</a:t>
            </a:r>
            <a:endParaRPr lang="en-US" altLang="en-US" sz="2000">
              <a:latin typeface="Times New Roman" panose="02020603050405020304" charset="0"/>
              <a:cs typeface="Times New Roman" panose="02020603050405020304" charset="0"/>
            </a:endParaRPr>
          </a:p>
        </p:txBody>
      </p:sp>
      <p:sp>
        <p:nvSpPr>
          <p:cNvPr id="31" name="Rectangle 30"/>
          <p:cNvSpPr/>
          <p:nvPr/>
        </p:nvSpPr>
        <p:spPr>
          <a:xfrm>
            <a:off x="881380" y="5715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pic>
        <p:nvPicPr>
          <p:cNvPr id="18" name="Picture 17"/>
          <p:cNvPicPr>
            <a:picLocks noChangeAspect="1"/>
          </p:cNvPicPr>
          <p:nvPr/>
        </p:nvPicPr>
        <p:blipFill>
          <a:blip r:embed="rId8"/>
          <a:stretch>
            <a:fillRect/>
          </a:stretch>
        </p:blipFill>
        <p:spPr>
          <a:xfrm>
            <a:off x="228600" y="1822450"/>
            <a:ext cx="13449300" cy="7207250"/>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F9F8"/>
        </a:solidFill>
        <a:effectLst/>
      </p:bgPr>
    </p:bg>
    <p:spTree>
      <p:nvGrpSpPr>
        <p:cNvPr id="1" name=""/>
        <p:cNvGrpSpPr/>
        <p:nvPr/>
      </p:nvGrpSpPr>
      <p:grpSpPr>
        <a:xfrm>
          <a:off x="0" y="0"/>
          <a:ext cx="0" cy="0"/>
          <a:chOff x="0" y="0"/>
          <a:chExt cx="0" cy="0"/>
        </a:xfrm>
      </p:grpSpPr>
      <p:pic>
        <p:nvPicPr>
          <p:cNvPr id="28" name="Picture 27" descr="dental_bg.png"/>
          <p:cNvPicPr>
            <a:picLocks noChangeAspect="1"/>
          </p:cNvPicPr>
          <p:nvPr/>
        </p:nvPicPr>
        <p:blipFill>
          <a:blip r:embed="rId1"/>
          <a:stretch>
            <a:fillRect/>
          </a:stretch>
        </p:blipFill>
        <p:spPr>
          <a:xfrm>
            <a:off x="0" y="0"/>
            <a:ext cx="18288000" cy="10287000"/>
          </a:xfrm>
          <a:prstGeom prst="rect">
            <a:avLst/>
          </a:prstGeom>
        </p:spPr>
      </p:pic>
      <p:sp>
        <p:nvSpPr>
          <p:cNvPr id="27" name="Oval 26"/>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2"/>
          <p:cNvSpPr txBox="1"/>
          <p:nvPr/>
        </p:nvSpPr>
        <p:spPr>
          <a:xfrm>
            <a:off x="1051560" y="647700"/>
            <a:ext cx="14287500" cy="602615"/>
          </a:xfrm>
          <a:prstGeom prst="rect">
            <a:avLst/>
          </a:prstGeom>
        </p:spPr>
        <p:txBody>
          <a:bodyPr lIns="0" tIns="0" rIns="0" bIns="0" rtlCol="0" anchor="t">
            <a:spAutoFit/>
          </a:bodyPr>
          <a:lstStyle/>
          <a:p>
            <a:pPr algn="l">
              <a:lnSpc>
                <a:spcPts val="4700"/>
              </a:lnSpc>
            </a:pPr>
            <a:r>
              <a:rPr lang="en-US" alt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rPr>
              <a:t>Màn hình trang chủ lễ tân</a:t>
            </a:r>
            <a:endParaRPr lang="en-US" altLang="en-US" sz="5400" b="1">
              <a:solidFill>
                <a:srgbClr val="111111"/>
              </a:solidFill>
              <a:latin typeface="Times New Roman" panose="02020603050405020304" charset="0"/>
              <a:ea typeface="Be Vietnam Ultra-Bold" panose="00000900000000000000"/>
              <a:cs typeface="Times New Roman" panose="02020603050405020304" charset="0"/>
              <a:sym typeface="Be Vietnam Ultra-Bold" panose="00000900000000000000"/>
            </a:endParaRPr>
          </a:p>
        </p:txBody>
      </p:sp>
      <p:sp>
        <p:nvSpPr>
          <p:cNvPr id="11" name="TextBox 10"/>
          <p:cNvSpPr txBox="1"/>
          <p:nvPr/>
        </p:nvSpPr>
        <p:spPr>
          <a:xfrm>
            <a:off x="17465040" y="9802368"/>
            <a:ext cx="384048" cy="201168"/>
          </a:xfrm>
          <a:prstGeom prst="rect">
            <a:avLst/>
          </a:prstGeom>
          <a:noFill/>
        </p:spPr>
        <p:txBody>
          <a:bodyPr wrap="none" lIns="0" tIns="0" rIns="0" bIns="0">
            <a:spAutoFit/>
          </a:bodyPr>
          <a:lstStyle/>
          <a:p>
            <a:pPr algn="r"/>
            <a:r>
              <a:rPr sz="900" b="1">
                <a:solidFill>
                  <a:srgbClr val="111111"/>
                </a:solidFill>
                <a:latin typeface="Aptos"/>
              </a:rPr>
              <a:t>16</a:t>
            </a:r>
            <a:endParaRPr sz="900" b="1">
              <a:solidFill>
                <a:srgbClr val="111111"/>
              </a:solidFill>
              <a:latin typeface="Aptos"/>
            </a:endParaRPr>
          </a:p>
        </p:txBody>
      </p:sp>
      <p:sp>
        <p:nvSpPr>
          <p:cNvPr id="22" name="Rounded Rectangle 21"/>
          <p:cNvSpPr/>
          <p:nvPr/>
        </p:nvSpPr>
        <p:spPr>
          <a:xfrm>
            <a:off x="533400" y="7200900"/>
            <a:ext cx="3797300"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sp>
        <p:nvSpPr>
          <p:cNvPr id="3" name="Rounded Rectangle 2"/>
          <p:cNvSpPr/>
          <p:nvPr/>
        </p:nvSpPr>
        <p:spPr>
          <a:xfrm>
            <a:off x="533400" y="4685665"/>
            <a:ext cx="3797935"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sp>
        <p:nvSpPr>
          <p:cNvPr id="4" name="Rounded Rectangle 3"/>
          <p:cNvSpPr/>
          <p:nvPr/>
        </p:nvSpPr>
        <p:spPr>
          <a:xfrm>
            <a:off x="533400" y="2171700"/>
            <a:ext cx="3798570" cy="1589405"/>
          </a:xfrm>
          <a:prstGeom prst="roundRect">
            <a:avLst/>
          </a:prstGeom>
          <a:solidFill>
            <a:srgbClr val="EAF2FF"/>
          </a:solidFill>
          <a:ln w="9525">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latin typeface="Times New Roman" panose="02020603050405020304" charset="0"/>
              <a:cs typeface="Times New Roman" panose="02020603050405020304" charset="0"/>
            </a:endParaRPr>
          </a:p>
        </p:txBody>
      </p:sp>
      <p:pic>
        <p:nvPicPr>
          <p:cNvPr id="6" name="Picture 5" descr="calendar-chec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800" y="2247900"/>
            <a:ext cx="423545" cy="423545"/>
          </a:xfrm>
          <a:prstGeom prst="rect">
            <a:avLst/>
          </a:prstGeom>
        </p:spPr>
      </p:pic>
      <p:sp>
        <p:nvSpPr>
          <p:cNvPr id="7" name="Text Box 6"/>
          <p:cNvSpPr txBox="1"/>
          <p:nvPr/>
        </p:nvSpPr>
        <p:spPr>
          <a:xfrm>
            <a:off x="1109345" y="2211070"/>
            <a:ext cx="2413000" cy="460375"/>
          </a:xfrm>
          <a:prstGeom prst="rect">
            <a:avLst/>
          </a:prstGeom>
          <a:noFill/>
        </p:spPr>
        <p:txBody>
          <a:bodyPr wrap="square" rtlCol="0">
            <a:spAutoFit/>
          </a:bodyPr>
          <a:p>
            <a:r>
              <a:rPr lang="en-US" altLang="en-US" sz="2400" b="1">
                <a:solidFill>
                  <a:srgbClr val="C00000"/>
                </a:solidFill>
              </a:rPr>
              <a:t>Quản l</a:t>
            </a:r>
            <a:r>
              <a:rPr lang="en-US" altLang="en-US" sz="2400" b="1">
                <a:solidFill>
                  <a:srgbClr val="C00000"/>
                </a:solidFill>
              </a:rPr>
              <a:t>ý </a:t>
            </a:r>
            <a:r>
              <a:rPr lang="en-US" altLang="en-US" sz="2400" b="1">
                <a:solidFill>
                  <a:srgbClr val="C00000"/>
                </a:solidFill>
              </a:rPr>
              <a:t>lịch hẹn</a:t>
            </a:r>
            <a:endParaRPr lang="en-US" altLang="en-US" sz="2400" b="1">
              <a:solidFill>
                <a:srgbClr val="C00000"/>
              </a:solidFill>
            </a:endParaRPr>
          </a:p>
        </p:txBody>
      </p:sp>
      <p:sp>
        <p:nvSpPr>
          <p:cNvPr id="8" name="Text Box 7"/>
          <p:cNvSpPr txBox="1"/>
          <p:nvPr/>
        </p:nvSpPr>
        <p:spPr>
          <a:xfrm>
            <a:off x="703580" y="2745105"/>
            <a:ext cx="3487420" cy="1014730"/>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Theo d</a:t>
            </a:r>
            <a:r>
              <a:rPr lang="en-US" altLang="en-US" sz="2000">
                <a:latin typeface="Times New Roman" panose="02020603050405020304" charset="0"/>
                <a:cs typeface="Times New Roman" panose="02020603050405020304" charset="0"/>
              </a:rPr>
              <a:t>õ</a:t>
            </a:r>
            <a:r>
              <a:rPr lang="en-US" altLang="en-US" sz="2000">
                <a:latin typeface="Times New Roman" panose="02020603050405020304" charset="0"/>
                <a:cs typeface="Times New Roman" panose="02020603050405020304" charset="0"/>
              </a:rPr>
              <a:t>i lịch khám, xác nhận lịch hẹn và kiểm tra bệnh nhân </a:t>
            </a:r>
            <a:r>
              <a:rPr lang="en-US"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ến khám.</a:t>
            </a:r>
            <a:endParaRPr lang="en-US" altLang="en-US" sz="2000">
              <a:latin typeface="Times New Roman" panose="02020603050405020304" charset="0"/>
              <a:cs typeface="Times New Roman" panose="02020603050405020304" charset="0"/>
            </a:endParaRPr>
          </a:p>
        </p:txBody>
      </p:sp>
      <p:pic>
        <p:nvPicPr>
          <p:cNvPr id="9" name="Picture 8" descr="clipboard-lis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5800" y="4705985"/>
            <a:ext cx="522605" cy="460375"/>
          </a:xfrm>
          <a:prstGeom prst="rect">
            <a:avLst/>
          </a:prstGeom>
        </p:spPr>
      </p:pic>
      <p:sp>
        <p:nvSpPr>
          <p:cNvPr id="12" name="Text Box 11"/>
          <p:cNvSpPr txBox="1"/>
          <p:nvPr/>
        </p:nvSpPr>
        <p:spPr>
          <a:xfrm>
            <a:off x="1143000" y="4705985"/>
            <a:ext cx="3048000"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Tiếp nhận bệnh nhân</a:t>
            </a:r>
            <a:endParaRPr lang="en-US" altLang="en-US" sz="2400" b="1">
              <a:solidFill>
                <a:srgbClr val="C00000"/>
              </a:solidFill>
              <a:latin typeface="Times New Roman" panose="02020603050405020304" charset="0"/>
              <a:cs typeface="Times New Roman" panose="02020603050405020304" charset="0"/>
            </a:endParaRPr>
          </a:p>
        </p:txBody>
      </p:sp>
      <p:sp>
        <p:nvSpPr>
          <p:cNvPr id="13" name="Text Box 12"/>
          <p:cNvSpPr txBox="1"/>
          <p:nvPr/>
        </p:nvSpPr>
        <p:spPr>
          <a:xfrm>
            <a:off x="703580" y="5254625"/>
            <a:ext cx="3487420" cy="706755"/>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Tra cứu thông tin, chọn bệnh nhân và cấp số thứ tự tiếp nhận.</a:t>
            </a:r>
            <a:endParaRPr lang="en-US" altLang="en-US" sz="2000">
              <a:latin typeface="Times New Roman" panose="02020603050405020304" charset="0"/>
              <a:cs typeface="Times New Roman" panose="02020603050405020304" charset="0"/>
            </a:endParaRPr>
          </a:p>
        </p:txBody>
      </p:sp>
      <p:pic>
        <p:nvPicPr>
          <p:cNvPr id="14" name="Picture 13" descr="receipt-tex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3580" y="7277100"/>
            <a:ext cx="439420" cy="439420"/>
          </a:xfrm>
          <a:prstGeom prst="rect">
            <a:avLst/>
          </a:prstGeom>
        </p:spPr>
      </p:pic>
      <p:sp>
        <p:nvSpPr>
          <p:cNvPr id="15" name="Text Box 14"/>
          <p:cNvSpPr txBox="1"/>
          <p:nvPr/>
        </p:nvSpPr>
        <p:spPr>
          <a:xfrm>
            <a:off x="1066800" y="7266940"/>
            <a:ext cx="3425825" cy="460375"/>
          </a:xfrm>
          <a:prstGeom prst="rect">
            <a:avLst/>
          </a:prstGeom>
          <a:noFill/>
        </p:spPr>
        <p:txBody>
          <a:bodyPr wrap="square" rtlCol="0">
            <a:spAutoFit/>
          </a:bodyPr>
          <a:p>
            <a:r>
              <a:rPr lang="en-US" altLang="en-US" sz="2400" b="1">
                <a:solidFill>
                  <a:srgbClr val="C00000"/>
                </a:solidFill>
                <a:latin typeface="Times New Roman" panose="02020603050405020304" charset="0"/>
                <a:cs typeface="Times New Roman" panose="02020603050405020304" charset="0"/>
              </a:rPr>
              <a:t>Thanh toán và hóa </a:t>
            </a:r>
            <a:r>
              <a:rPr lang="en-US" altLang="en-US" sz="2400" b="1">
                <a:solidFill>
                  <a:srgbClr val="C00000"/>
                </a:solidFill>
                <a:latin typeface="Times New Roman" panose="02020603050405020304" charset="0"/>
                <a:cs typeface="Times New Roman" panose="02020603050405020304" charset="0"/>
              </a:rPr>
              <a:t>đ</a:t>
            </a:r>
            <a:r>
              <a:rPr lang="en-US" altLang="en-US" sz="2400" b="1">
                <a:solidFill>
                  <a:srgbClr val="C00000"/>
                </a:solidFill>
                <a:latin typeface="Times New Roman" panose="02020603050405020304" charset="0"/>
                <a:cs typeface="Times New Roman" panose="02020603050405020304" charset="0"/>
              </a:rPr>
              <a:t>ơn</a:t>
            </a:r>
            <a:endParaRPr lang="en-US" altLang="en-US" sz="2400" b="1">
              <a:solidFill>
                <a:srgbClr val="C00000"/>
              </a:solidFill>
              <a:latin typeface="Times New Roman" panose="02020603050405020304" charset="0"/>
              <a:cs typeface="Times New Roman" panose="02020603050405020304" charset="0"/>
            </a:endParaRPr>
          </a:p>
        </p:txBody>
      </p:sp>
      <p:sp>
        <p:nvSpPr>
          <p:cNvPr id="31" name="Rectangle 30"/>
          <p:cNvSpPr/>
          <p:nvPr/>
        </p:nvSpPr>
        <p:spPr>
          <a:xfrm>
            <a:off x="868680" y="571500"/>
            <a:ext cx="109220" cy="602615"/>
          </a:xfrm>
          <a:prstGeom prst="rect">
            <a:avLst/>
          </a:prstGeom>
          <a:solidFill>
            <a:srgbClr val="B12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6" name="Text Box 15"/>
          <p:cNvSpPr txBox="1"/>
          <p:nvPr/>
        </p:nvSpPr>
        <p:spPr>
          <a:xfrm>
            <a:off x="703580" y="7775575"/>
            <a:ext cx="3487420" cy="1014730"/>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Tra cứu hóa </a:t>
            </a:r>
            <a:r>
              <a:rPr lang="en-US"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ơn, hỗ trợ thanh toán và theo d</a:t>
            </a:r>
            <a:r>
              <a:rPr lang="en-US" altLang="en-US" sz="2000">
                <a:latin typeface="Times New Roman" panose="02020603050405020304" charset="0"/>
                <a:cs typeface="Times New Roman" panose="02020603050405020304" charset="0"/>
              </a:rPr>
              <a:t>õ</a:t>
            </a:r>
            <a:r>
              <a:rPr lang="en-US" altLang="en-US" sz="2000">
                <a:latin typeface="Times New Roman" panose="02020603050405020304" charset="0"/>
                <a:cs typeface="Times New Roman" panose="02020603050405020304" charset="0"/>
              </a:rPr>
              <a:t>i doanh thu trong ngày.</a:t>
            </a:r>
            <a:endParaRPr lang="en-US" altLang="en-US" sz="2000">
              <a:latin typeface="Times New Roman" panose="02020603050405020304" charset="0"/>
              <a:cs typeface="Times New Roman" panose="02020603050405020304" charset="0"/>
            </a:endParaRPr>
          </a:p>
        </p:txBody>
      </p:sp>
      <p:pic>
        <p:nvPicPr>
          <p:cNvPr id="17" name="Picture 16"/>
          <p:cNvPicPr>
            <a:picLocks noChangeAspect="1"/>
          </p:cNvPicPr>
          <p:nvPr/>
        </p:nvPicPr>
        <p:blipFill>
          <a:blip r:embed="rId8"/>
          <a:stretch>
            <a:fillRect/>
          </a:stretch>
        </p:blipFill>
        <p:spPr>
          <a:xfrm>
            <a:off x="4724400" y="2000250"/>
            <a:ext cx="13254355" cy="7052310"/>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pic>
        <p:nvPicPr>
          <p:cNvPr id="27" name="Picture 26" descr="dental_bg.png"/>
          <p:cNvPicPr>
            <a:picLocks noChangeAspect="1"/>
          </p:cNvPicPr>
          <p:nvPr/>
        </p:nvPicPr>
        <p:blipFill>
          <a:blip r:embed="rId1"/>
          <a:stretch>
            <a:fillRect/>
          </a:stretch>
        </p:blipFill>
        <p:spPr>
          <a:xfrm>
            <a:off x="0" y="0"/>
            <a:ext cx="18288000" cy="10287000"/>
          </a:xfrm>
          <a:prstGeom prst="rect">
            <a:avLst/>
          </a:prstGeom>
        </p:spPr>
      </p:pic>
      <p:sp>
        <p:nvSpPr>
          <p:cNvPr id="26" name="Oval 25"/>
          <p:cNvSpPr/>
          <p:nvPr/>
        </p:nvSpPr>
        <p:spPr>
          <a:xfrm>
            <a:off x="17190720" y="3337560"/>
            <a:ext cx="73152" cy="73152"/>
          </a:xfrm>
          <a:prstGeom prst="ellipse">
            <a:avLst/>
          </a:prstGeom>
          <a:solidFill>
            <a:srgbClr val="CA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693640" y="3063240"/>
            <a:ext cx="91440" cy="91440"/>
          </a:xfrm>
          <a:prstGeom prst="ellipse">
            <a:avLst/>
          </a:prstGeom>
          <a:solidFill>
            <a:srgbClr val="369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373600" y="2743200"/>
            <a:ext cx="118872" cy="118872"/>
          </a:xfrm>
          <a:prstGeom prst="ellipse">
            <a:avLst/>
          </a:prstGeom>
          <a:solidFill>
            <a:srgbClr val="AD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2"/>
          <p:cNvGrpSpPr/>
          <p:nvPr/>
        </p:nvGrpSpPr>
        <p:grpSpPr>
          <a:xfrm rot="0">
            <a:off x="13811250" y="1238250"/>
            <a:ext cx="2857500" cy="2857500"/>
            <a:chOff x="0" y="0"/>
            <a:chExt cx="3810000" cy="3810000"/>
          </a:xfrm>
        </p:grpSpPr>
        <p:sp>
          <p:nvSpPr>
            <p:cNvPr id="3" name="Freeform 3"/>
            <p:cNvSpPr/>
            <p:nvPr/>
          </p:nvSpPr>
          <p:spPr>
            <a:xfrm>
              <a:off x="0" y="0"/>
              <a:ext cx="3810000" cy="3810000"/>
            </a:xfrm>
            <a:custGeom>
              <a:avLst/>
              <a:gdLst/>
              <a:ahLst/>
              <a:cxnLst/>
              <a:rect l="l" t="t" r="r" b="b"/>
              <a:pathLst>
                <a:path w="3810000" h="3810000">
                  <a:moveTo>
                    <a:pt x="1905000" y="0"/>
                  </a:moveTo>
                  <a:cubicBezTo>
                    <a:pt x="2957102" y="0"/>
                    <a:pt x="3810000" y="852898"/>
                    <a:pt x="3810000" y="1905000"/>
                  </a:cubicBezTo>
                  <a:cubicBezTo>
                    <a:pt x="3810000" y="2957102"/>
                    <a:pt x="2957102" y="3810000"/>
                    <a:pt x="1905000" y="3810000"/>
                  </a:cubicBezTo>
                  <a:cubicBezTo>
                    <a:pt x="852898" y="3810000"/>
                    <a:pt x="0" y="2957102"/>
                    <a:pt x="0" y="1905000"/>
                  </a:cubicBezTo>
                  <a:cubicBezTo>
                    <a:pt x="0" y="852898"/>
                    <a:pt x="852898" y="0"/>
                    <a:pt x="1905000" y="0"/>
                  </a:cubicBezTo>
                  <a:close/>
                </a:path>
              </a:pathLst>
            </a:custGeom>
            <a:solidFill>
              <a:srgbClr val="A61E2D"/>
            </a:solidFill>
            <a:ln cap="sq">
              <a:noFill/>
              <a:prstDash val="solid"/>
              <a:miter/>
            </a:ln>
          </p:spPr>
        </p:sp>
        <p:sp>
          <p:nvSpPr>
            <p:cNvPr id="4" name="TextBox 4"/>
            <p:cNvSpPr txBox="1"/>
            <p:nvPr/>
          </p:nvSpPr>
          <p:spPr>
            <a:xfrm>
              <a:off x="0" y="-38100"/>
              <a:ext cx="3810000" cy="3848100"/>
            </a:xfrm>
            <a:prstGeom prst="rect">
              <a:avLst/>
            </a:prstGeom>
          </p:spPr>
          <p:txBody>
            <a:bodyPr lIns="50800" tIns="50800" rIns="50800" bIns="50800" rtlCol="0" anchor="ctr"/>
            <a:lstStyle/>
            <a:p>
              <a:pPr algn="l">
                <a:lnSpc>
                  <a:spcPts val="1680"/>
                </a:lnSpc>
              </a:pPr>
            </a:p>
          </p:txBody>
        </p:sp>
      </p:grpSp>
      <p:sp>
        <p:nvSpPr>
          <p:cNvPr id="8" name="TextBox 8"/>
          <p:cNvSpPr txBox="1"/>
          <p:nvPr/>
        </p:nvSpPr>
        <p:spPr>
          <a:xfrm>
            <a:off x="1809750" y="2371725"/>
            <a:ext cx="11430000" cy="1765173"/>
          </a:xfrm>
          <a:prstGeom prst="rect">
            <a:avLst/>
          </a:prstGeom>
        </p:spPr>
        <p:txBody>
          <a:bodyPr lIns="0" tIns="0" rIns="0" bIns="0" rtlCol="0" anchor="t">
            <a:spAutoFit/>
          </a:bodyPr>
          <a:lstStyle/>
          <a:p>
            <a:pPr algn="l">
              <a:lnSpc>
                <a:spcPts val="6965"/>
              </a:lnSpc>
            </a:pPr>
            <a:r>
              <a:rPr lang="en-US" sz="645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rPr>
              <a:t>Cảm ơn quý thầy cô</a:t>
            </a:r>
            <a:endParaRPr lang="en-US" sz="645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endParaRPr>
          </a:p>
          <a:p>
            <a:pPr algn="l">
              <a:lnSpc>
                <a:spcPts val="6965"/>
              </a:lnSpc>
            </a:pPr>
            <a:r>
              <a:rPr lang="en-US" sz="645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rPr>
              <a:t>và các bạn đã theo dõi</a:t>
            </a:r>
            <a:endParaRPr lang="en-US" sz="6450" b="1">
              <a:solidFill>
                <a:srgbClr val="111111"/>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9" name="TextBox 9"/>
          <p:cNvSpPr txBox="1"/>
          <p:nvPr/>
        </p:nvSpPr>
        <p:spPr>
          <a:xfrm>
            <a:off x="1857375" y="4905375"/>
            <a:ext cx="8572500" cy="487680"/>
          </a:xfrm>
          <a:prstGeom prst="rect">
            <a:avLst/>
          </a:prstGeom>
        </p:spPr>
        <p:txBody>
          <a:bodyPr lIns="0" tIns="0" rIns="0" bIns="0" rtlCol="0" anchor="t">
            <a:spAutoFit/>
          </a:bodyPr>
          <a:lstStyle/>
          <a:p>
            <a:pPr algn="l">
              <a:lnSpc>
                <a:spcPts val="4095"/>
              </a:lnSpc>
            </a:pPr>
            <a:r>
              <a:rPr lang="en-US" sz="2925" b="1">
                <a:solidFill>
                  <a:srgbClr val="A61E2D"/>
                </a:solidFill>
                <a:latin typeface="Noto Sans Bold" panose="020B0802040504020204"/>
                <a:ea typeface="Noto Sans Bold" panose="020B0802040504020204"/>
                <a:cs typeface="Noto Sans Bold" panose="020B0802040504020204"/>
                <a:sym typeface="Noto Sans Bold" panose="020B0802040504020204"/>
              </a:rPr>
              <a:t>Mời câu hỏi và thảo luận</a:t>
            </a:r>
            <a:endParaRPr lang="en-US" sz="2925" b="1">
              <a:solidFill>
                <a:srgbClr val="A61E2D"/>
              </a:solidFill>
              <a:latin typeface="Noto Sans Bold" panose="020B0802040504020204"/>
              <a:ea typeface="Noto Sans Bold" panose="020B0802040504020204"/>
              <a:cs typeface="Noto Sans Bold" panose="020B0802040504020204"/>
              <a:sym typeface="Noto Sans Bold" panose="020B0802040504020204"/>
            </a:endParaRPr>
          </a:p>
        </p:txBody>
      </p:sp>
      <p:sp>
        <p:nvSpPr>
          <p:cNvPr id="10" name="TextBox 10"/>
          <p:cNvSpPr txBox="1"/>
          <p:nvPr/>
        </p:nvSpPr>
        <p:spPr>
          <a:xfrm>
            <a:off x="1857375" y="7867650"/>
            <a:ext cx="7429500" cy="306705"/>
          </a:xfrm>
          <a:prstGeom prst="rect">
            <a:avLst/>
          </a:prstGeom>
        </p:spPr>
        <p:txBody>
          <a:bodyPr lIns="0" tIns="0" rIns="0" bIns="0" rtlCol="0" anchor="t">
            <a:spAutoFit/>
          </a:bodyPr>
          <a:lstStyle/>
          <a:p>
            <a:pPr algn="l">
              <a:lnSpc>
                <a:spcPts val="2520"/>
              </a:lnSpc>
            </a:pPr>
            <a:r>
              <a:rPr lang="en-US" sz="1800">
                <a:solidFill>
                  <a:srgbClr val="111111"/>
                </a:solidFill>
                <a:latin typeface="IBM Plex Mono" panose="020B0509050203000203"/>
                <a:ea typeface="IBM Plex Mono" panose="020B0509050203000203"/>
                <a:cs typeface="IBM Plex Mono" panose="020B0509050203000203"/>
                <a:sym typeface="IBM Plex Mono" panose="020B0509050203000203"/>
              </a:rPr>
              <a:t>NHÓM 7  ·  KÊNH LIÊN HỆ NỘI BỘ</a:t>
            </a:r>
            <a:endParaRPr lang="en-US" sz="1800">
              <a:solidFill>
                <a:srgbClr val="111111"/>
              </a:solidFill>
              <a:latin typeface="IBM Plex Mono" panose="020B0509050203000203"/>
              <a:ea typeface="IBM Plex Mono" panose="020B0509050203000203"/>
              <a:cs typeface="IBM Plex Mono" panose="020B0509050203000203"/>
              <a:sym typeface="IBM Plex Mono" panose="020B0509050203000203"/>
            </a:endParaRP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10329</Words>
  <Application>WPS Presentation</Application>
  <PresentationFormat>On-screen Show (4:3)</PresentationFormat>
  <Paragraphs>369</Paragraphs>
  <Slides>18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18</vt:i4>
      </vt:variant>
    </vt:vector>
  </HeadingPairs>
  <TitlesOfParts>
    <vt:vector size="35" baseType="lpstr">
      <vt:lpstr>Arial</vt:lpstr>
      <vt:lpstr>SimSun</vt:lpstr>
      <vt:lpstr>Wingdings</vt:lpstr>
      <vt:lpstr>Be Vietnam Ultra-Bold</vt:lpstr>
      <vt:lpstr>Times New Roman</vt:lpstr>
      <vt:lpstr>Noto Sans</vt:lpstr>
      <vt:lpstr>Noto Sans Bold</vt:lpstr>
      <vt:lpstr>Aptos Display</vt:lpstr>
      <vt:lpstr>Segoe UI Variable Display</vt:lpstr>
      <vt:lpstr>Aptos</vt:lpstr>
      <vt:lpstr>Segoe UI</vt:lpstr>
      <vt:lpstr>IBM Plex Mono</vt:lpstr>
      <vt:lpstr>Times New Roman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phòng khám nha khoa</dc:title>
  <dc:creator/>
  <cp:lastModifiedBy>Phú Trương</cp:lastModifiedBy>
  <cp:revision>16</cp:revision>
  <dcterms:created xsi:type="dcterms:W3CDTF">2006-08-16T00:00:00Z</dcterms:created>
  <dcterms:modified xsi:type="dcterms:W3CDTF">2026-10-18T15:49:56Z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13B3C5C868C848D9A39007430BE2D973_13</vt:lpwstr>
  </property>
</Properties>
</file>